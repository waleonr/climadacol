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DM Sans" pitchFamily="2" charset="0"/>
      <p:regular r:id="rId20"/>
      <p:bold r:id="rId21"/>
      <p:italic r:id="rId22"/>
      <p:boldItalic r:id="rId23"/>
    </p:embeddedFont>
    <p:embeddedFont>
      <p:font typeface="DM Sans Medium" pitchFamily="2" charset="0"/>
      <p:regular r:id="rId24"/>
      <p:bold r:id="rId25"/>
      <p:italic r:id="rId26"/>
      <p:boldItalic r:id="rId27"/>
    </p:embeddedFont>
    <p:embeddedFont>
      <p:font typeface="Merriweather" panose="000005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CLIMADA-project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waleonr/CLIMADACOL" TargetMode="External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15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70559" y="1947118"/>
            <a:ext cx="7050881" cy="15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5EE"/>
                </a:solidFill>
                <a:latin typeface="Merriweather"/>
                <a:ea typeface="Merriweather"/>
                <a:cs typeface="Merriweather"/>
                <a:sym typeface="Merriweather"/>
              </a:rPr>
              <a:t>Climate Impact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8F5EE"/>
                </a:solidFill>
                <a:latin typeface="Merriweather"/>
                <a:ea typeface="Merriweather"/>
                <a:cs typeface="Merriweather"/>
                <a:sym typeface="Merriweather"/>
              </a:rPr>
              <a:t> Modelling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38437" y="3762523"/>
            <a:ext cx="67151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5EE"/>
                </a:solidFill>
                <a:latin typeface="DM Sans"/>
                <a:ea typeface="DM Sans"/>
                <a:cs typeface="DM Sans"/>
                <a:sym typeface="DM Sans"/>
              </a:rPr>
              <a:t>Hazard–Exposure–Impact framework applied to climate risk analysis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1" i="0" u="none" strike="noStrike" cap="none">
                <a:solidFill>
                  <a:srgbClr val="88C9D9"/>
                </a:solidFill>
                <a:latin typeface="DM Sans"/>
                <a:ea typeface="DM Sans"/>
                <a:cs typeface="DM Sans"/>
                <a:sym typeface="DM Sans"/>
              </a:rPr>
              <a:t>William Alfonso Leon Rueda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4525"/>
            <a:ext cx="6771084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8834" y="1400175"/>
            <a:ext cx="380166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1400175"/>
            <a:ext cx="71096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The Risk Equation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219450"/>
            <a:ext cx="6771084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This strictly defined mathematical interaction is essential for isolating the primary physical and socioeconomic drivers of risk.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941266"/>
            <a:ext cx="6771084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It provides an indispensable framework for climate change impact studies, disaster risk mitigation analysis, and long-term decision support.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295525"/>
            <a:ext cx="6199584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8834" y="1400175"/>
            <a:ext cx="380166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Climate Risk Modelling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001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1500" y="140017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CLIMate ADAptation Platform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42950" y="191643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09625" y="1914525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 advanced, open-source climate risk modelling platform initially developed by researchers at ETH Zurich.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42950" y="2638246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09625" y="2636341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Features a highly modular architecture explicitly designed for probabilistic impact modelling and adaptation analysis.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42950" y="336006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09625" y="3358157"/>
            <a:ext cx="504825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Seamlessly integrates physical hazard dynamics with spatial exposure assets and empirical vulnerability functions.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4001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CLIMADA?</a:t>
            </a:r>
            <a:endParaRPr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03D89CD-A788-5D5A-7D90-838A74FBAECA}"/>
              </a:ext>
            </a:extLst>
          </p:cNvPr>
          <p:cNvSpPr txBox="1"/>
          <p:nvPr/>
        </p:nvSpPr>
        <p:spPr>
          <a:xfrm>
            <a:off x="742950" y="5388396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6"/>
              </a:rPr>
              <a:t>https://github.com/CLIMADA-project</a:t>
            </a:r>
            <a:r>
              <a:rPr lang="es-CO"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0645"/>
            <a:ext cx="3429000" cy="3628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070645"/>
            <a:ext cx="3429000" cy="3628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070645"/>
            <a:ext cx="3429000" cy="362857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71500" y="1400175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Hazard Intensity → Asset Exposure → Impact Functions → Engine Calculation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785937" y="3251745"/>
            <a:ext cx="1000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Hazard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19150" y="3766095"/>
            <a:ext cx="293370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physical severity and probability of a climate extreme event, such as high-resolution flood depth or regional drought index.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440918" y="3251745"/>
            <a:ext cx="131016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Exposure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29150" y="3766095"/>
            <a:ext cx="293370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exact geographical location of critical infrastructure, assets, or populations intersecting with designated hazard zones.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755856" y="3251745"/>
            <a:ext cx="23002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Impact Function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439150" y="3766095"/>
            <a:ext cx="293370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core mathematical relationship translating measured hazard intensity into an expected degree of socioeconomic damage.</a:t>
            </a:r>
            <a:endParaRPr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7400" y="247069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825" y="247069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7400" y="247069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CLIMADA 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364331" y="220675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31006" y="2204847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Climate Hazards: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High-resolution physical flood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rasters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and SPEI drought severity data provided via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NetCDF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files.</a:t>
            </a:r>
            <a:endParaRPr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364331" y="2928568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431006" y="2926663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Exposure Maps: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Granular, gridded population datasets and detailed spatial asset distributions.</a:t>
            </a:r>
            <a:endParaRPr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364331" y="3650384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31006" y="3648479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Spatial Analytics: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Dynamically processed raster layers and integrated climate indicator matrices.</a:t>
            </a:r>
            <a:endParaRPr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364331" y="437220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31006" y="4370296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Computational Tools: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Executed entirely via Python, utilizing CLIMADA, Google Earth Engine,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Xarray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and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GeoPandas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Data Sources Used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B337A63-AA47-06F4-F2BD-657F388A0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937" y="571500"/>
            <a:ext cx="6096000" cy="290248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92B00F6-115A-1DA9-FCED-2D75B0706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2" y="3565623"/>
            <a:ext cx="4515092" cy="30527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060" y="4137421"/>
            <a:ext cx="2541240" cy="1493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15979" y="1638300"/>
            <a:ext cx="2541240" cy="1737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51899" y="4137421"/>
            <a:ext cx="2541240" cy="1737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87819" y="1638300"/>
            <a:ext cx="2541240" cy="173712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/>
          <p:nvPr/>
        </p:nvSpPr>
        <p:spPr>
          <a:xfrm>
            <a:off x="480060" y="3737371"/>
            <a:ext cx="11049000" cy="38100"/>
          </a:xfrm>
          <a:prstGeom prst="rect">
            <a:avLst/>
          </a:prstGeom>
          <a:solidFill>
            <a:srgbClr val="C4DF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626555" y="4337446"/>
            <a:ext cx="224824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7B9E"/>
                </a:solidFill>
                <a:latin typeface="Merriweather"/>
                <a:ea typeface="Merriweather"/>
                <a:cs typeface="Merriweather"/>
                <a:sym typeface="Merriweather"/>
              </a:rPr>
              <a:t>1. Initialization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80085" y="4699396"/>
            <a:ext cx="214119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Setup the computational environment and load all raw climate datasets.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3462475" y="1838325"/>
            <a:ext cx="224824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7B9E"/>
                </a:solidFill>
                <a:latin typeface="Merriweather"/>
                <a:ea typeface="Merriweather"/>
                <a:cs typeface="Merriweather"/>
                <a:sym typeface="Merriweather"/>
              </a:rPr>
              <a:t>2. Generation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3516004" y="2200274"/>
            <a:ext cx="214119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Convert raw rasters to compliant CLIMADA Hazards and map geographic Exposure objects.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298395" y="4337446"/>
            <a:ext cx="224824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7B9E"/>
                </a:solidFill>
                <a:latin typeface="Merriweather"/>
                <a:ea typeface="Merriweather"/>
                <a:cs typeface="Merriweather"/>
                <a:sym typeface="Merriweather"/>
              </a:rPr>
              <a:t>3. Vulnerability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351924" y="4699396"/>
            <a:ext cx="214119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Define precise Impact Functions linking physical intensity to population or structural damage.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134315" y="1838325"/>
            <a:ext cx="224824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7B9E"/>
                </a:solidFill>
                <a:latin typeface="Merriweather"/>
                <a:ea typeface="Merriweather"/>
                <a:cs typeface="Merriweather"/>
                <a:sym typeface="Merriweather"/>
              </a:rPr>
              <a:t>4. Computation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187844" y="2200274"/>
            <a:ext cx="214119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Execute impact calculations, perform localized event analysis, and aggregate final metrics.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1636380" y="364212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8F5EE"/>
          </a:solidFill>
          <a:ln w="47625" cap="flat" cmpd="sng">
            <a:solidFill>
              <a:srgbClr val="0041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4472300" y="364212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8F5EE"/>
          </a:solidFill>
          <a:ln w="47625" cap="flat" cmpd="sng">
            <a:solidFill>
              <a:srgbClr val="0041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7308219" y="364212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8F5EE"/>
          </a:solidFill>
          <a:ln w="47625" cap="flat" cmpd="sng">
            <a:solidFill>
              <a:srgbClr val="0041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10144139" y="364212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8F5EE"/>
          </a:solidFill>
          <a:ln w="47625" cap="flat" cmpd="sng">
            <a:solidFill>
              <a:srgbClr val="0041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Workflow Overview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75395"/>
            <a:ext cx="5286375" cy="2885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75395"/>
            <a:ext cx="5286375" cy="288562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71500" y="1400175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Goal: Transform raw climatic geospatial data into CLIMADA-compatible hazard events.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62025" y="2365920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Flood Hazard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62025" y="2880270"/>
            <a:ext cx="4505325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High-resolution raster flood intensity layers are parsed and dynamically converted into specific CLIMADA Hazard objects using the custom tif_to_hazard() function, ensuring strict retention of original spatial resolution.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724650" y="2365920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Drought Hazard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724650" y="2880270"/>
            <a:ext cx="4505325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Standardized Precipitation Evapotranspiration Index (SPEI) matrices from NetCDF are meticulously processed into discrete hazard events via spei_nc_to_hazard() and programmatically structured with fix_hazard_events().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Hazard Construction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6334125" y="140017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Population Exposure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505575" y="191643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572250" y="1914525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Exposure modelling creates the direct spatial link between vulnerable demographics and localized hazard footprints.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505575" y="2638246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572250" y="2636341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Extensive raster population datasets are programmatically mapped to CLIMADA Exposure objects.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505575" y="336006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6572250" y="3358157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pop_to_exposures() function accurately interprets geographical coordinate bounds.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505575" y="4081879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572250" y="4079974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final resulting objects contain exact longitude/latitude pairs explicitly mapped to population counts.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Exposure Modelling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B8BA0F-9A33-74F9-AD9F-7784A8639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69" y="1300000"/>
            <a:ext cx="5660763" cy="48721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001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571500" y="140017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Vulnerability Modelling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742950" y="191643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809625" y="1914525"/>
            <a:ext cx="504825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Impact functions embody the critical threshold relationship between environmental extremes and resulting socioeconomic damage.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742950" y="292771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809625" y="2925812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They are absolutely necessary to translate pure physical hazard magnitudes into actionable impact metrics.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742950" y="3668583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809625" y="3666678"/>
            <a:ext cx="5048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 CLIMADA, they explicitly define three core parameters: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981075" y="4034254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1047750" y="4032349"/>
            <a:ext cx="48101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Intensity: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absolute magnitude of the specific hazard.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981075" y="475607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1047750" y="4754165"/>
            <a:ext cx="48101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Mean Damage Degree: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expected severity of the physical loss.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981075" y="54778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047750" y="5475982"/>
            <a:ext cx="48101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Probability: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likelihood of an exposed asset sustaining damage.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Impact Functions</a:t>
            </a:r>
            <a:endParaRPr/>
          </a:p>
        </p:txBody>
      </p:sp>
      <p:sp>
        <p:nvSpPr>
          <p:cNvPr id="2" name="AutoShape 2" descr="Imagen de salida">
            <a:extLst>
              <a:ext uri="{FF2B5EF4-FFF2-40B4-BE49-F238E27FC236}">
                <a16:creationId xmlns:a16="http://schemas.microsoft.com/office/drawing/2014/main" id="{73F9F10D-C444-7491-42E6-4C6ED095F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64B72EB-389C-42E8-904A-2E058134D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399" y="1400174"/>
            <a:ext cx="5636449" cy="37844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00175"/>
            <a:ext cx="3429000" cy="3918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400175"/>
            <a:ext cx="3429000" cy="3918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400175"/>
            <a:ext cx="3429000" cy="39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1270873" y="2581275"/>
            <a:ext cx="203025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Impact Engine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819150" y="3095625"/>
            <a:ext cx="293370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core computational module of CLIMADA designed to orchestrate the vast spatial intersection of massive hazard matrices and exposure arrays.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5255895" y="2581275"/>
            <a:ext cx="16802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Process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4629150" y="3095625"/>
            <a:ext cx="2933700" cy="173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Algorithmically extracts local hazard intensity at specific exposure coordinates, applies the assigned impact function, and computes the mathematically expected damage.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8615838" y="2581275"/>
            <a:ext cx="258032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Generated Outputs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8439150" y="3095625"/>
            <a:ext cx="293370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Yields highly detailed analytic metrics including explicit impact per temporal event, aggregated overall impacts, and exhaustive spatial distribution grids.</a:t>
            </a:r>
            <a:endParaRPr/>
          </a:p>
        </p:txBody>
      </p:sp>
      <p:pic>
        <p:nvPicPr>
          <p:cNvPr id="237" name="Google Shape;23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7400" y="18002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18002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05975" y="180022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Impact Calculation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00175"/>
            <a:ext cx="5286375" cy="4472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400175"/>
            <a:ext cx="5286375" cy="447213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962025" y="1790700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Refinement Steps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962025" y="2305050"/>
            <a:ext cx="450532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Crucial supplementary processing steps within the analytical notebook ensure unparalleled modelling robustness: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6724650" y="1790700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 &amp; Purpose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6724650" y="2305050"/>
            <a:ext cx="450532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Dedicated functions such as mean_hazard() and parse_hazard_key() are actively utilized to rigorously standardize chaotic inputs.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6724650" y="3316337"/>
            <a:ext cx="4505325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Primary Purpose: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To dramatically improve the spatial consistency and absolute reliability of hazard datasets prior to initiating the heavy computational impact calculations.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1276350" y="331824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1343025" y="3316337"/>
            <a:ext cx="41243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Automated hazard event corrections to mitigate missing or erratic sensory data.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1276350" y="4040058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1343025" y="4038153"/>
            <a:ext cx="41243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Targeted event averaging over specific temporal windows to analyze prolonged hazards.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1276350" y="4761874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1032129" y="5100619"/>
            <a:ext cx="41243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Thorough event aggregation for comprehensive, cumulative risk profiling.</a:t>
            </a:r>
            <a:endParaRPr dirty="0"/>
          </a:p>
        </p:txBody>
      </p:sp>
      <p:sp>
        <p:nvSpPr>
          <p:cNvPr id="259" name="Google Shape;259;p23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Event Processing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00175"/>
            <a:ext cx="342900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400175"/>
            <a:ext cx="342900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1400175"/>
            <a:ext cx="342900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571500" y="3781425"/>
            <a:ext cx="342900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Affected Population: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Expected demographic impacts and displacements mapped precisely across highly exposed geographic regions.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4381500" y="3781425"/>
            <a:ext cx="342900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Event-Based Impacts: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Rigorous statistical breakdowns of financial or structural loss per discrete climate catastrophe.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8191500" y="3781425"/>
            <a:ext cx="342900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Spatial Distribution: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High-resolution cartographic plotting indicating exactly where the most severe climate damages will manifest.</a:t>
            </a:r>
            <a:endParaRPr/>
          </a:p>
        </p:txBody>
      </p:sp>
      <p:pic>
        <p:nvPicPr>
          <p:cNvPr id="272" name="Google Shape;272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81500" y="1400175"/>
            <a:ext cx="342900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0" y="1400175"/>
            <a:ext cx="342900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Impact Outputs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4A57B1-EE5B-60F1-875F-9FB243D7C1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431" y="1286170"/>
            <a:ext cx="3794569" cy="2418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1619250" y="1400175"/>
            <a:ext cx="9477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Climate Risk Assessment: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Methodically quantifying expected damages across varied climate projection scenarios to accurately pinpoint highly vulnerable regions and demographics.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1619250" y="2295525"/>
            <a:ext cx="9477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Adaptation Planning: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Stress-testing the efficacy of theoretical adaptation measures by systematically modifying their effect on established vulnerability and exposure curves.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1619250" y="3190875"/>
            <a:ext cx="9477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Disaster Risk Management: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Demonstrably effective for rapid, comprehensive flood risk analysis and prolonged drought severity mapping to dictate mitigation strategies.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1619250" y="4086225"/>
            <a:ext cx="9477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Climate Policy Support: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Yielding mathematically robust, irrefutable data evidence directly to national policymakers and stakeholders to guide long-term resilience investments.</a:t>
            </a:r>
            <a:endParaRPr/>
          </a:p>
        </p:txBody>
      </p:sp>
      <p:pic>
        <p:nvPicPr>
          <p:cNvPr id="284" name="Google Shape;28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75" y="14144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375" y="23098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375" y="3205162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95375" y="4100512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Workflow Applications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0645"/>
            <a:ext cx="3429000" cy="3918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070645"/>
            <a:ext cx="3429000" cy="3918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070645"/>
            <a:ext cx="3429000" cy="39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 txBox="1"/>
          <p:nvPr/>
        </p:nvSpPr>
        <p:spPr>
          <a:xfrm>
            <a:off x="571500" y="1400175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The fully Pythonic implementation offers significant advantages to researchers: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755808" y="3251745"/>
            <a:ext cx="306038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Reproducible Pipeline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819150" y="3766095"/>
            <a:ext cx="2933700" cy="173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entirely scripted methodology guarantees that every sequential operation, from initial data loading to terminal output generation, is perfectly repeatable and transparent.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4950856" y="3251745"/>
            <a:ext cx="229028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Data Integration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4629150" y="3766095"/>
            <a:ext cx="2933700" cy="173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framework seamlessly marries diverse, complex physical climate indicators with multi-dimensional socioeconomic data layers allowing for infinitely flexible hazard modelling.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8825865" y="3251745"/>
            <a:ext cx="21602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Highly Scalable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8439150" y="3766095"/>
            <a:ext cx="2933700" cy="173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underlying architecture ensures the exact same analytical code can scale flawlessly from extremely localized city models to vast, multi-regional continental studies.</a:t>
            </a:r>
            <a:endParaRPr/>
          </a:p>
        </p:txBody>
      </p:sp>
      <p:pic>
        <p:nvPicPr>
          <p:cNvPr id="304" name="Google Shape;304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5975" y="247069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825" y="247069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05975" y="247069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6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Approach Advantages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7"/>
          <p:cNvSpPr txBox="1"/>
          <p:nvPr/>
        </p:nvSpPr>
        <p:spPr>
          <a:xfrm>
            <a:off x="571500" y="571500"/>
            <a:ext cx="555069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Conclusions</a:t>
            </a:r>
            <a:endParaRPr/>
          </a:p>
        </p:txBody>
      </p:sp>
      <p:pic>
        <p:nvPicPr>
          <p:cNvPr id="314" name="Google Shape;31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7"/>
          <p:cNvSpPr txBox="1"/>
          <p:nvPr/>
        </p:nvSpPr>
        <p:spPr>
          <a:xfrm>
            <a:off x="571500" y="2142529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A Robust Framework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571500" y="2656879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CLIMADA provides a highly robust, open-source framework for holistic climate impact modelling.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571500" y="3378696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Hazard–Exposure–Impact approach allows for a granular, integrated risk analysis that accounts for all drivers of damage.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571500" y="4100512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Our developed Python workflow enables fully automated impact calculations directly from raw climate datasets.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571500" y="4822328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Ultimately, this approach delivers actionable insights to support strategic climate resilience planning.</a:t>
            </a:r>
            <a:endParaRPr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B1864F0-3A82-684E-255A-B9D3F1F137E7}"/>
              </a:ext>
            </a:extLst>
          </p:cNvPr>
          <p:cNvSpPr txBox="1"/>
          <p:nvPr/>
        </p:nvSpPr>
        <p:spPr>
          <a:xfrm>
            <a:off x="880110" y="5821857"/>
            <a:ext cx="3893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5"/>
              </a:rPr>
              <a:t>https://github.com/waleonr/CLIMADACOL</a:t>
            </a:r>
            <a:r>
              <a:rPr lang="es-CO" dirty="0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8"/>
          <p:cNvSpPr/>
          <p:nvPr/>
        </p:nvSpPr>
        <p:spPr>
          <a:xfrm>
            <a:off x="571500" y="139481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571500" y="217958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571500" y="2964358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571500" y="394721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571500" y="473199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571500" y="2170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571500" y="2170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/>
          <p:nvPr/>
        </p:nvSpPr>
        <p:spPr>
          <a:xfrm>
            <a:off x="571500" y="29548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571500" y="29548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571500" y="393769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571500" y="393769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8"/>
          <p:cNvSpPr/>
          <p:nvPr/>
        </p:nvSpPr>
        <p:spPr>
          <a:xfrm>
            <a:off x="571500" y="47224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8"/>
          <p:cNvSpPr/>
          <p:nvPr/>
        </p:nvSpPr>
        <p:spPr>
          <a:xfrm>
            <a:off x="571500" y="47224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8"/>
          <p:cNvSpPr/>
          <p:nvPr/>
        </p:nvSpPr>
        <p:spPr>
          <a:xfrm>
            <a:off x="571500" y="55072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571500" y="55072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442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8"/>
          <p:cNvSpPr txBox="1"/>
          <p:nvPr/>
        </p:nvSpPr>
        <p:spPr>
          <a:xfrm>
            <a:off x="1666875" y="153769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https://www.adaptationcommunity.net/wp-content/uploads/2023/08/CR_SB_website_Overview_page_Conceptual_framework_figure_rev28Aug2023-3.png</a:t>
            </a:r>
            <a:endParaRPr/>
          </a:p>
        </p:txBody>
      </p:sp>
      <p:sp>
        <p:nvSpPr>
          <p:cNvPr id="342" name="Google Shape;342;p28"/>
          <p:cNvSpPr txBox="1"/>
          <p:nvPr/>
        </p:nvSpPr>
        <p:spPr>
          <a:xfrm>
            <a:off x="1666875" y="178340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www.adaptationcommunity.net</a:t>
            </a:r>
            <a:endParaRPr/>
          </a:p>
        </p:txBody>
      </p:sp>
      <p:pic>
        <p:nvPicPr>
          <p:cNvPr id="343" name="Google Shape;343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2901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8"/>
          <p:cNvSpPr txBox="1"/>
          <p:nvPr/>
        </p:nvSpPr>
        <p:spPr>
          <a:xfrm>
            <a:off x="1666875" y="232246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https://ethz.ch/en/campus/development/hoenggerberg/_jcr_content/par/fullwidthimage_26897405/image.imageformat.1286.333617114.jpg</a:t>
            </a:r>
            <a:endParaRPr/>
          </a:p>
        </p:txBody>
      </p:sp>
      <p:sp>
        <p:nvSpPr>
          <p:cNvPr id="345" name="Google Shape;345;p28"/>
          <p:cNvSpPr txBox="1"/>
          <p:nvPr/>
        </p:nvSpPr>
        <p:spPr>
          <a:xfrm>
            <a:off x="1666875" y="256817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ethz.ch</a:t>
            </a:r>
            <a:endParaRPr/>
          </a:p>
        </p:txBody>
      </p:sp>
      <p:pic>
        <p:nvPicPr>
          <p:cNvPr id="346" name="Google Shape;346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129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8"/>
          <p:cNvSpPr txBox="1"/>
          <p:nvPr/>
        </p:nvSpPr>
        <p:spPr>
          <a:xfrm>
            <a:off x="1666875" y="310723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https://images-provider.frontiersin.org/api/ipx/w=1200&amp;f=png/https://www.frontiersin.org/files/Articles/1309629/feart-12-1309629-HTML/image_m/feart-12-1309629-g001.jpg</a:t>
            </a:r>
            <a:endParaRPr/>
          </a:p>
        </p:txBody>
      </p:sp>
      <p:sp>
        <p:nvSpPr>
          <p:cNvPr id="348" name="Google Shape;348;p28"/>
          <p:cNvSpPr txBox="1"/>
          <p:nvPr/>
        </p:nvSpPr>
        <p:spPr>
          <a:xfrm>
            <a:off x="1666875" y="355103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www.frontiersin.org</a:t>
            </a:r>
            <a:endParaRPr/>
          </a:p>
        </p:txBody>
      </p:sp>
      <p:pic>
        <p:nvPicPr>
          <p:cNvPr id="349" name="Google Shape;349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9664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8"/>
          <p:cNvSpPr txBox="1"/>
          <p:nvPr/>
        </p:nvSpPr>
        <p:spPr>
          <a:xfrm>
            <a:off x="1666875" y="409009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https://www.kontur.io/wp-content/uploads/2022/08/kontur_population.png</a:t>
            </a:r>
            <a:endParaRPr/>
          </a:p>
        </p:txBody>
      </p:sp>
      <p:sp>
        <p:nvSpPr>
          <p:cNvPr id="351" name="Google Shape;351;p28"/>
          <p:cNvSpPr txBox="1"/>
          <p:nvPr/>
        </p:nvSpPr>
        <p:spPr>
          <a:xfrm>
            <a:off x="1666875" y="433580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www.kontur.io</a:t>
            </a:r>
            <a:endParaRPr/>
          </a:p>
        </p:txBody>
      </p:sp>
      <p:pic>
        <p:nvPicPr>
          <p:cNvPr id="352" name="Google Shape;352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814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8"/>
          <p:cNvSpPr txBox="1"/>
          <p:nvPr/>
        </p:nvSpPr>
        <p:spPr>
          <a:xfrm>
            <a:off x="1666875" y="487486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https://www.cdema.org/virtuallibrary/images/description/Flood_empirical.jpg</a:t>
            </a:r>
            <a:endParaRPr/>
          </a:p>
        </p:txBody>
      </p:sp>
      <p:sp>
        <p:nvSpPr>
          <p:cNvPr id="354" name="Google Shape;354;p28"/>
          <p:cNvSpPr txBox="1"/>
          <p:nvPr/>
        </p:nvSpPr>
        <p:spPr>
          <a:xfrm>
            <a:off x="1666875" y="512058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www.cdema.org</a:t>
            </a:r>
            <a:endParaRPr/>
          </a:p>
        </p:txBody>
      </p:sp>
      <p:pic>
        <p:nvPicPr>
          <p:cNvPr id="355" name="Google Shape;355;p2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6661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8"/>
          <p:cNvSpPr txBox="1"/>
          <p:nvPr/>
        </p:nvSpPr>
        <p:spPr>
          <a:xfrm>
            <a:off x="1666875" y="565963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https://skepticalscience.com/graphics/Vulnerable_Countries_500.jpg</a:t>
            </a:r>
            <a:endParaRPr/>
          </a:p>
        </p:txBody>
      </p:sp>
      <p:sp>
        <p:nvSpPr>
          <p:cNvPr id="357" name="Google Shape;357;p28"/>
          <p:cNvSpPr txBox="1"/>
          <p:nvPr/>
        </p:nvSpPr>
        <p:spPr>
          <a:xfrm>
            <a:off x="1666875" y="590535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skepticalscience.com</a:t>
            </a:r>
            <a:endParaRPr/>
          </a:p>
        </p:txBody>
      </p:sp>
      <p:sp>
        <p:nvSpPr>
          <p:cNvPr id="358" name="Google Shape;358;p28"/>
          <p:cNvSpPr txBox="1"/>
          <p:nvPr/>
        </p:nvSpPr>
        <p:spPr>
          <a:xfrm>
            <a:off x="571500" y="566142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9"/>
          <p:cNvSpPr/>
          <p:nvPr/>
        </p:nvSpPr>
        <p:spPr>
          <a:xfrm>
            <a:off x="571500" y="140017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571500" y="218494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571500" y="21754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9"/>
          <p:cNvSpPr/>
          <p:nvPr/>
        </p:nvSpPr>
        <p:spPr>
          <a:xfrm>
            <a:off x="571500" y="21754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571500" y="29601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571500" y="29601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495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9"/>
          <p:cNvSpPr txBox="1"/>
          <p:nvPr/>
        </p:nvSpPr>
        <p:spPr>
          <a:xfrm>
            <a:off x="1666875" y="154305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https://assets.visme.co/templates/banners/thumbnails/i_Social-Media-Bar-Graph_full.jpg</a:t>
            </a:r>
            <a:endParaRPr/>
          </a:p>
        </p:txBody>
      </p:sp>
      <p:sp>
        <p:nvSpPr>
          <p:cNvPr id="372" name="Google Shape;372;p29"/>
          <p:cNvSpPr txBox="1"/>
          <p:nvPr/>
        </p:nvSpPr>
        <p:spPr>
          <a:xfrm>
            <a:off x="1666875" y="178876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www.visme.co</a:t>
            </a:r>
            <a:endParaRPr/>
          </a:p>
        </p:txBody>
      </p:sp>
      <p:pic>
        <p:nvPicPr>
          <p:cNvPr id="373" name="Google Shape;373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343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9"/>
          <p:cNvSpPr txBox="1"/>
          <p:nvPr/>
        </p:nvSpPr>
        <p:spPr>
          <a:xfrm>
            <a:off x="1666875" y="232782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http://www.espon.eu/sites/default/files/2024-05/illustration_aggregated-risk-europe-map.png</a:t>
            </a:r>
            <a:endParaRPr/>
          </a:p>
        </p:txBody>
      </p:sp>
      <p:sp>
        <p:nvSpPr>
          <p:cNvPr id="375" name="Google Shape;375;p29"/>
          <p:cNvSpPr txBox="1"/>
          <p:nvPr/>
        </p:nvSpPr>
        <p:spPr>
          <a:xfrm>
            <a:off x="1666875" y="257353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www.espon.eu</a:t>
            </a:r>
            <a:endParaRPr/>
          </a:p>
        </p:txBody>
      </p:sp>
      <p:pic>
        <p:nvPicPr>
          <p:cNvPr id="376" name="Google Shape;376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182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9"/>
          <p:cNvSpPr txBox="1"/>
          <p:nvPr/>
        </p:nvSpPr>
        <p:spPr>
          <a:xfrm>
            <a:off x="1666875" y="311259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https://cop30.br/en/news-about-cop30/global-adaptation-efforts-advance-as-countries-move-from-planning-to-action-unfccc-report-shows/@@images/image-1280-aadb507844f180658e24b4dc740e9198.jpeg</a:t>
            </a:r>
            <a:endParaRPr/>
          </a:p>
        </p:txBody>
      </p:sp>
      <p:sp>
        <p:nvSpPr>
          <p:cNvPr id="378" name="Google Shape;378;p29"/>
          <p:cNvSpPr txBox="1"/>
          <p:nvPr/>
        </p:nvSpPr>
        <p:spPr>
          <a:xfrm>
            <a:off x="1666875" y="355639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cop30.br</a:t>
            </a:r>
            <a:endParaRPr/>
          </a:p>
        </p:txBody>
      </p:sp>
      <p:sp>
        <p:nvSpPr>
          <p:cNvPr id="379" name="Google Shape;379;p29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5A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1343</Words>
  <Application>Microsoft Office PowerPoint</Application>
  <PresentationFormat>Panorámica</PresentationFormat>
  <Paragraphs>134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Calibri</vt:lpstr>
      <vt:lpstr>Arial</vt:lpstr>
      <vt:lpstr>DM Sans Medium</vt:lpstr>
      <vt:lpstr>DM Sans</vt:lpstr>
      <vt:lpstr>Merriweather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William Alfonso Leon Rueda</cp:lastModifiedBy>
  <cp:revision>6</cp:revision>
  <dcterms:modified xsi:type="dcterms:W3CDTF">2026-03-13T00:06:48Z</dcterms:modified>
</cp:coreProperties>
</file>