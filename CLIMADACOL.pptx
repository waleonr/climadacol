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embeddedFontLst>
    <p:embeddedFont>
      <p:font typeface="DM Sans" pitchFamily="2" charset="0"/>
      <p:regular r:id="rId20"/>
      <p:bold r:id="rId21"/>
      <p:italic r:id="rId22"/>
      <p:boldItalic r:id="rId23"/>
    </p:embeddedFont>
    <p:embeddedFont>
      <p:font typeface="DM Sans Medium" pitchFamily="2" charset="0"/>
      <p:regular r:id="rId24"/>
      <p:bold r:id="rId25"/>
      <p:italic r:id="rId26"/>
      <p:boldItalic r:id="rId27"/>
    </p:embeddedFont>
    <p:embeddedFont>
      <p:font typeface="Merriweather" panose="00000500000000000000" pitchFamily="2" charset="0"/>
      <p:regular r:id="rId28"/>
      <p:bold r:id="rId29"/>
      <p:italic r:id="rId30"/>
      <p:boldItalic r:id="rId3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font" Target="fonts/font9.fntdata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font" Target="fonts/font1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font" Target="fonts/font11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" name="Google Shape;15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5" name="Google Shape;225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1" name="Google Shape;29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0" name="Google Shape;310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2" name="Google Shape;322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1" name="Google Shape;361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CLIMADA-project" TargetMode="Externa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2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2.png"/><Relationship Id="rId7" Type="http://schemas.openxmlformats.org/officeDocument/2006/relationships/image" Target="../media/image4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Relationship Id="rId9" Type="http://schemas.openxmlformats.org/officeDocument/2006/relationships/image" Target="../media/image4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8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2.png"/><Relationship Id="rId7" Type="http://schemas.openxmlformats.org/officeDocument/2006/relationships/image" Target="../media/image5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Relationship Id="rId9" Type="http://schemas.openxmlformats.org/officeDocument/2006/relationships/image" Target="../media/image5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415A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2570559" y="1947118"/>
            <a:ext cx="7050881" cy="157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498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0" u="none" strike="noStrike" cap="none">
                <a:solidFill>
                  <a:srgbClr val="F8F5EE"/>
                </a:solidFill>
                <a:latin typeface="Merriweather"/>
                <a:ea typeface="Merriweather"/>
                <a:cs typeface="Merriweather"/>
                <a:sym typeface="Merriweather"/>
              </a:rPr>
              <a:t>Climate Impact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5400" b="1" i="0" u="none" strike="noStrike" cap="none">
                <a:solidFill>
                  <a:srgbClr val="F8F5EE"/>
                </a:solidFill>
                <a:latin typeface="Merriweather"/>
                <a:ea typeface="Merriweather"/>
                <a:cs typeface="Merriweather"/>
                <a:sym typeface="Merriweather"/>
              </a:rPr>
              <a:t> Modelling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2738437" y="3762523"/>
            <a:ext cx="6715125" cy="1005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666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F8F5EE"/>
                </a:solidFill>
                <a:latin typeface="DM Sans"/>
                <a:ea typeface="DM Sans"/>
                <a:cs typeface="DM Sans"/>
                <a:sym typeface="DM Sans"/>
              </a:rPr>
              <a:t>Hazard–Exposure–Impact framework applied to climate risk analysis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50" b="1" i="0" u="none" strike="noStrike" cap="none">
                <a:solidFill>
                  <a:srgbClr val="88C9D9"/>
                </a:solidFill>
                <a:latin typeface="DM Sans"/>
                <a:ea typeface="DM Sans"/>
                <a:cs typeface="DM Sans"/>
                <a:sym typeface="DM Sans"/>
              </a:rPr>
              <a:t>William Alfonso Leon Rueda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EE"/>
        </a:solid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914525"/>
            <a:ext cx="6771084" cy="1019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818834" y="1400175"/>
            <a:ext cx="3801665" cy="361950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4"/>
          <p:cNvSpPr txBox="1"/>
          <p:nvPr/>
        </p:nvSpPr>
        <p:spPr>
          <a:xfrm>
            <a:off x="571500" y="1400175"/>
            <a:ext cx="7109638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415A"/>
                </a:solidFill>
                <a:latin typeface="Merriweather"/>
                <a:ea typeface="Merriweather"/>
                <a:cs typeface="Merriweather"/>
                <a:sym typeface="Merriweather"/>
              </a:rPr>
              <a:t>The Risk Equation</a:t>
            </a:r>
            <a:endParaRPr/>
          </a:p>
        </p:txBody>
      </p:sp>
      <p:sp>
        <p:nvSpPr>
          <p:cNvPr id="95" name="Google Shape;95;p14"/>
          <p:cNvSpPr txBox="1"/>
          <p:nvPr/>
        </p:nvSpPr>
        <p:spPr>
          <a:xfrm>
            <a:off x="571500" y="3219450"/>
            <a:ext cx="6771084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This strictly defined mathematical interaction is essential for isolating the primary physical and socioeconomic drivers of risk.</a:t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571500" y="3941266"/>
            <a:ext cx="6771084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It provides an indispensable framework for climate change impact studies, disaster risk mitigation analysis, and long-term decision support.</a:t>
            </a:r>
            <a:endParaRPr/>
          </a:p>
        </p:txBody>
      </p:sp>
      <p:pic>
        <p:nvPicPr>
          <p:cNvPr id="97" name="Google Shape;97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57250" y="2295525"/>
            <a:ext cx="6199584" cy="333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818834" y="1400175"/>
            <a:ext cx="3801665" cy="3619500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4"/>
          <p:cNvSpPr txBox="1"/>
          <p:nvPr/>
        </p:nvSpPr>
        <p:spPr>
          <a:xfrm>
            <a:off x="571500" y="571500"/>
            <a:ext cx="1160145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415A"/>
                </a:solidFill>
                <a:latin typeface="Merriweather"/>
                <a:ea typeface="Merriweather"/>
                <a:cs typeface="Merriweather"/>
                <a:sym typeface="Merriweather"/>
              </a:rPr>
              <a:t>Climate Risk Modelling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EE"/>
        </a:solid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Google Shape;104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1400175"/>
            <a:ext cx="5286375" cy="3619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15"/>
          <p:cNvSpPr txBox="1"/>
          <p:nvPr/>
        </p:nvSpPr>
        <p:spPr>
          <a:xfrm>
            <a:off x="571500" y="1400175"/>
            <a:ext cx="5550693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415A"/>
                </a:solidFill>
                <a:latin typeface="Merriweather"/>
                <a:ea typeface="Merriweather"/>
                <a:cs typeface="Merriweather"/>
                <a:sym typeface="Merriweather"/>
              </a:rPr>
              <a:t>CLIMate ADAptation Platform</a:t>
            </a:r>
            <a:endParaRPr/>
          </a:p>
        </p:txBody>
      </p:sp>
      <p:sp>
        <p:nvSpPr>
          <p:cNvPr id="107" name="Google Shape;107;p15"/>
          <p:cNvSpPr txBox="1"/>
          <p:nvPr/>
        </p:nvSpPr>
        <p:spPr>
          <a:xfrm>
            <a:off x="742950" y="1916430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08" name="Google Shape;108;p15"/>
          <p:cNvSpPr txBox="1"/>
          <p:nvPr/>
        </p:nvSpPr>
        <p:spPr>
          <a:xfrm>
            <a:off x="809625" y="1914525"/>
            <a:ext cx="5048250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An advanced, open-source climate risk modelling platform initially developed by researchers at ETH Zurich.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742950" y="2638246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10" name="Google Shape;110;p15"/>
          <p:cNvSpPr txBox="1"/>
          <p:nvPr/>
        </p:nvSpPr>
        <p:spPr>
          <a:xfrm>
            <a:off x="809625" y="2636341"/>
            <a:ext cx="5048250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Features a highly modular architecture explicitly designed for probabilistic impact modelling and adaptation analysis.</a:t>
            </a:r>
            <a:endParaRPr/>
          </a:p>
        </p:txBody>
      </p:sp>
      <p:sp>
        <p:nvSpPr>
          <p:cNvPr id="111" name="Google Shape;111;p15"/>
          <p:cNvSpPr txBox="1"/>
          <p:nvPr/>
        </p:nvSpPr>
        <p:spPr>
          <a:xfrm>
            <a:off x="742950" y="3360062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12" name="Google Shape;112;p15"/>
          <p:cNvSpPr txBox="1"/>
          <p:nvPr/>
        </p:nvSpPr>
        <p:spPr>
          <a:xfrm>
            <a:off x="809625" y="3358157"/>
            <a:ext cx="5048250" cy="868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Seamlessly integrates physical hazard dynamics with spatial exposure assets and empirical vulnerability functions.</a:t>
            </a:r>
            <a:endParaRPr/>
          </a:p>
        </p:txBody>
      </p:sp>
      <p:pic>
        <p:nvPicPr>
          <p:cNvPr id="113" name="Google Shape;113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1400175"/>
            <a:ext cx="5286375" cy="3619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5"/>
          <p:cNvSpPr txBox="1"/>
          <p:nvPr/>
        </p:nvSpPr>
        <p:spPr>
          <a:xfrm>
            <a:off x="571500" y="571500"/>
            <a:ext cx="1160145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415A"/>
                </a:solidFill>
                <a:latin typeface="Merriweather"/>
                <a:ea typeface="Merriweather"/>
                <a:cs typeface="Merriweather"/>
                <a:sym typeface="Merriweather"/>
              </a:rPr>
              <a:t>What is CLIMADA?</a:t>
            </a:r>
            <a:endParaRPr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F03D89CD-A788-5D5A-7D90-838A74FBAECA}"/>
              </a:ext>
            </a:extLst>
          </p:cNvPr>
          <p:cNvSpPr txBox="1"/>
          <p:nvPr/>
        </p:nvSpPr>
        <p:spPr>
          <a:xfrm>
            <a:off x="742950" y="5388396"/>
            <a:ext cx="60944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O" dirty="0">
                <a:hlinkClick r:id="rId6"/>
              </a:rPr>
              <a:t>https://github.com/CLIMADA-project</a:t>
            </a:r>
            <a:r>
              <a:rPr lang="es-CO" dirty="0"/>
              <a:t>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EE"/>
        </a:solidFill>
        <a:effectLst/>
      </p:bgPr>
    </p:bg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070645"/>
            <a:ext cx="3429000" cy="3628578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Google Shape;121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81500" y="2070645"/>
            <a:ext cx="3429000" cy="3628578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91500" y="2070645"/>
            <a:ext cx="3429000" cy="3628578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16"/>
          <p:cNvSpPr txBox="1"/>
          <p:nvPr/>
        </p:nvSpPr>
        <p:spPr>
          <a:xfrm>
            <a:off x="571500" y="1400175"/>
            <a:ext cx="11049000" cy="289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334155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Hazard Intensity → Asset Exposure → Impact Functions → Engine Calculation</a:t>
            </a:r>
            <a:endParaRPr/>
          </a:p>
        </p:txBody>
      </p:sp>
      <p:sp>
        <p:nvSpPr>
          <p:cNvPr id="124" name="Google Shape;124;p16"/>
          <p:cNvSpPr txBox="1"/>
          <p:nvPr/>
        </p:nvSpPr>
        <p:spPr>
          <a:xfrm>
            <a:off x="1785937" y="3251745"/>
            <a:ext cx="1000125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415A"/>
                </a:solidFill>
                <a:latin typeface="Merriweather"/>
                <a:ea typeface="Merriweather"/>
                <a:cs typeface="Merriweather"/>
                <a:sym typeface="Merriweather"/>
              </a:rPr>
              <a:t>Hazard</a:t>
            </a:r>
            <a:endParaRPr/>
          </a:p>
        </p:txBody>
      </p:sp>
      <p:sp>
        <p:nvSpPr>
          <p:cNvPr id="125" name="Google Shape;125;p16"/>
          <p:cNvSpPr txBox="1"/>
          <p:nvPr/>
        </p:nvSpPr>
        <p:spPr>
          <a:xfrm>
            <a:off x="819150" y="3766095"/>
            <a:ext cx="2933700" cy="14473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The physical severity and probability of a climate extreme event, such as high-resolution flood depth or regional drought index.</a:t>
            </a:r>
            <a:endParaRPr/>
          </a:p>
        </p:txBody>
      </p:sp>
      <p:sp>
        <p:nvSpPr>
          <p:cNvPr id="126" name="Google Shape;126;p16"/>
          <p:cNvSpPr txBox="1"/>
          <p:nvPr/>
        </p:nvSpPr>
        <p:spPr>
          <a:xfrm>
            <a:off x="5440918" y="3251745"/>
            <a:ext cx="1310163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415A"/>
                </a:solidFill>
                <a:latin typeface="Merriweather"/>
                <a:ea typeface="Merriweather"/>
                <a:cs typeface="Merriweather"/>
                <a:sym typeface="Merriweather"/>
              </a:rPr>
              <a:t>Exposure</a:t>
            </a:r>
            <a:endParaRPr/>
          </a:p>
        </p:txBody>
      </p:sp>
      <p:sp>
        <p:nvSpPr>
          <p:cNvPr id="127" name="Google Shape;127;p16"/>
          <p:cNvSpPr txBox="1"/>
          <p:nvPr/>
        </p:nvSpPr>
        <p:spPr>
          <a:xfrm>
            <a:off x="4629150" y="3766095"/>
            <a:ext cx="2933700" cy="1157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The exact geographical location of critical infrastructure, assets, or populations intersecting with designated hazard zones.</a:t>
            </a:r>
            <a:endParaRPr/>
          </a:p>
        </p:txBody>
      </p:sp>
      <p:sp>
        <p:nvSpPr>
          <p:cNvPr id="128" name="Google Shape;128;p16"/>
          <p:cNvSpPr txBox="1"/>
          <p:nvPr/>
        </p:nvSpPr>
        <p:spPr>
          <a:xfrm>
            <a:off x="8755856" y="3251745"/>
            <a:ext cx="2300287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415A"/>
                </a:solidFill>
                <a:latin typeface="Merriweather"/>
                <a:ea typeface="Merriweather"/>
                <a:cs typeface="Merriweather"/>
                <a:sym typeface="Merriweather"/>
              </a:rPr>
              <a:t>Impact Function</a:t>
            </a:r>
            <a:endParaRPr/>
          </a:p>
        </p:txBody>
      </p:sp>
      <p:sp>
        <p:nvSpPr>
          <p:cNvPr id="129" name="Google Shape;129;p16"/>
          <p:cNvSpPr txBox="1"/>
          <p:nvPr/>
        </p:nvSpPr>
        <p:spPr>
          <a:xfrm>
            <a:off x="8439150" y="3766095"/>
            <a:ext cx="2933700" cy="1157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The core mathematical relationship translating measured hazard intensity into an expected degree of socioeconomic damage.</a:t>
            </a:r>
            <a:endParaRPr/>
          </a:p>
        </p:txBody>
      </p:sp>
      <p:pic>
        <p:nvPicPr>
          <p:cNvPr id="130" name="Google Shape;130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057400" y="2470695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16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38825" y="2470695"/>
            <a:ext cx="5143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16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677400" y="2470695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6"/>
          <p:cNvSpPr txBox="1"/>
          <p:nvPr/>
        </p:nvSpPr>
        <p:spPr>
          <a:xfrm>
            <a:off x="571500" y="571500"/>
            <a:ext cx="1160145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415A"/>
                </a:solidFill>
                <a:latin typeface="Merriweather"/>
                <a:ea typeface="Merriweather"/>
                <a:cs typeface="Merriweather"/>
                <a:sym typeface="Merriweather"/>
              </a:rPr>
              <a:t>CLIMADA Architecture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EE"/>
        </a:solid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17"/>
          <p:cNvSpPr txBox="1"/>
          <p:nvPr/>
        </p:nvSpPr>
        <p:spPr>
          <a:xfrm>
            <a:off x="364331" y="2206752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41" name="Google Shape;141;p17"/>
          <p:cNvSpPr txBox="1"/>
          <p:nvPr/>
        </p:nvSpPr>
        <p:spPr>
          <a:xfrm>
            <a:off x="431006" y="2204847"/>
            <a:ext cx="5048250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Climate Hazards:</a:t>
            </a:r>
            <a:r>
              <a:rPr lang="en-US" sz="1425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High-resolution physical flood </a:t>
            </a:r>
            <a:r>
              <a:rPr lang="en-US" sz="1425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rasters</a:t>
            </a:r>
            <a:r>
              <a:rPr lang="en-US" sz="1425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and SPEI drought severity data provided via </a:t>
            </a:r>
            <a:r>
              <a:rPr lang="en-US" sz="1425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NetCDF</a:t>
            </a:r>
            <a:r>
              <a:rPr lang="en-US" sz="1425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files.</a:t>
            </a:r>
            <a:endParaRPr dirty="0"/>
          </a:p>
        </p:txBody>
      </p:sp>
      <p:sp>
        <p:nvSpPr>
          <p:cNvPr id="142" name="Google Shape;142;p17"/>
          <p:cNvSpPr txBox="1"/>
          <p:nvPr/>
        </p:nvSpPr>
        <p:spPr>
          <a:xfrm>
            <a:off x="364331" y="2928568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43" name="Google Shape;143;p17"/>
          <p:cNvSpPr txBox="1"/>
          <p:nvPr/>
        </p:nvSpPr>
        <p:spPr>
          <a:xfrm>
            <a:off x="431006" y="2926663"/>
            <a:ext cx="5048250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Exposure Maps:</a:t>
            </a:r>
            <a:r>
              <a:rPr lang="en-US" sz="1425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Granular, gridded population datasets and detailed spatial asset distributions.</a:t>
            </a:r>
            <a:endParaRPr dirty="0"/>
          </a:p>
        </p:txBody>
      </p:sp>
      <p:sp>
        <p:nvSpPr>
          <p:cNvPr id="144" name="Google Shape;144;p17"/>
          <p:cNvSpPr txBox="1"/>
          <p:nvPr/>
        </p:nvSpPr>
        <p:spPr>
          <a:xfrm>
            <a:off x="364331" y="3650384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45" name="Google Shape;145;p17"/>
          <p:cNvSpPr txBox="1"/>
          <p:nvPr/>
        </p:nvSpPr>
        <p:spPr>
          <a:xfrm>
            <a:off x="431006" y="3648479"/>
            <a:ext cx="5048250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Spatial Analytics:</a:t>
            </a:r>
            <a:r>
              <a:rPr lang="en-US" sz="1425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Dynamically processed raster layers and integrated climate indicator matrices.</a:t>
            </a:r>
            <a:endParaRPr dirty="0"/>
          </a:p>
        </p:txBody>
      </p:sp>
      <p:sp>
        <p:nvSpPr>
          <p:cNvPr id="146" name="Google Shape;146;p17"/>
          <p:cNvSpPr txBox="1"/>
          <p:nvPr/>
        </p:nvSpPr>
        <p:spPr>
          <a:xfrm>
            <a:off x="364331" y="4372201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47" name="Google Shape;147;p17"/>
          <p:cNvSpPr txBox="1"/>
          <p:nvPr/>
        </p:nvSpPr>
        <p:spPr>
          <a:xfrm>
            <a:off x="431006" y="4370296"/>
            <a:ext cx="5048250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Computational Tools:</a:t>
            </a:r>
            <a:r>
              <a:rPr lang="en-US" sz="1425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Executed entirely via Python, utilizing CLIMADA, Google Earth Engine, </a:t>
            </a:r>
            <a:r>
              <a:rPr lang="en-US" sz="1425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Xarray</a:t>
            </a:r>
            <a:r>
              <a:rPr lang="en-US" sz="1425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, and </a:t>
            </a:r>
            <a:r>
              <a:rPr lang="en-US" sz="1425" b="0" i="0" u="none" strike="noStrike" cap="none" dirty="0" err="1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GeoPandas</a:t>
            </a:r>
            <a:r>
              <a:rPr lang="en-US" sz="1425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.</a:t>
            </a:r>
            <a:endParaRPr dirty="0"/>
          </a:p>
        </p:txBody>
      </p:sp>
      <p:sp>
        <p:nvSpPr>
          <p:cNvPr id="148" name="Google Shape;148;p17"/>
          <p:cNvSpPr txBox="1"/>
          <p:nvPr/>
        </p:nvSpPr>
        <p:spPr>
          <a:xfrm>
            <a:off x="571500" y="571500"/>
            <a:ext cx="1160145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415A"/>
                </a:solidFill>
                <a:latin typeface="Merriweather"/>
                <a:ea typeface="Merriweather"/>
                <a:cs typeface="Merriweather"/>
                <a:sym typeface="Merriweather"/>
              </a:rPr>
              <a:t>Data Sources Used</a:t>
            </a:r>
            <a:endParaRPr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B337A63-AA47-06F4-F2BD-657F388A04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6937" y="571500"/>
            <a:ext cx="6096000" cy="2902486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992B00F6-115A-1DA9-FCED-2D75B0706A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6562" y="3565623"/>
            <a:ext cx="4515092" cy="305276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EE"/>
        </a:solidFill>
        <a:effectLst/>
      </p:bgPr>
    </p:bg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Google Shape;153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80060" y="4137421"/>
            <a:ext cx="2541240" cy="149334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315979" y="1638300"/>
            <a:ext cx="2541240" cy="17371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18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151899" y="4137421"/>
            <a:ext cx="2541240" cy="1737121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18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987819" y="1638300"/>
            <a:ext cx="2541240" cy="1737121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18"/>
          <p:cNvSpPr/>
          <p:nvPr/>
        </p:nvSpPr>
        <p:spPr>
          <a:xfrm>
            <a:off x="480060" y="3737371"/>
            <a:ext cx="11049000" cy="38100"/>
          </a:xfrm>
          <a:prstGeom prst="rect">
            <a:avLst/>
          </a:prstGeom>
          <a:solidFill>
            <a:srgbClr val="C4DFE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8"/>
          <p:cNvSpPr txBox="1"/>
          <p:nvPr/>
        </p:nvSpPr>
        <p:spPr>
          <a:xfrm>
            <a:off x="626555" y="4337446"/>
            <a:ext cx="2248249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07B9E"/>
                </a:solidFill>
                <a:latin typeface="Merriweather"/>
                <a:ea typeface="Merriweather"/>
                <a:cs typeface="Merriweather"/>
                <a:sym typeface="Merriweather"/>
              </a:rPr>
              <a:t>1. Initialization</a:t>
            </a:r>
            <a:endParaRPr/>
          </a:p>
        </p:txBody>
      </p:sp>
      <p:sp>
        <p:nvSpPr>
          <p:cNvPr id="160" name="Google Shape;160;p18"/>
          <p:cNvSpPr txBox="1"/>
          <p:nvPr/>
        </p:nvSpPr>
        <p:spPr>
          <a:xfrm>
            <a:off x="680085" y="4699396"/>
            <a:ext cx="2141190" cy="73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Setup the computational environment and load all raw climate datasets.</a:t>
            </a:r>
            <a:endParaRPr/>
          </a:p>
        </p:txBody>
      </p:sp>
      <p:sp>
        <p:nvSpPr>
          <p:cNvPr id="161" name="Google Shape;161;p18"/>
          <p:cNvSpPr txBox="1"/>
          <p:nvPr/>
        </p:nvSpPr>
        <p:spPr>
          <a:xfrm>
            <a:off x="3462475" y="1838325"/>
            <a:ext cx="2248249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07B9E"/>
                </a:solidFill>
                <a:latin typeface="Merriweather"/>
                <a:ea typeface="Merriweather"/>
                <a:cs typeface="Merriweather"/>
                <a:sym typeface="Merriweather"/>
              </a:rPr>
              <a:t>2. Generation</a:t>
            </a:r>
            <a:endParaRPr/>
          </a:p>
        </p:txBody>
      </p:sp>
      <p:sp>
        <p:nvSpPr>
          <p:cNvPr id="162" name="Google Shape;162;p18"/>
          <p:cNvSpPr txBox="1"/>
          <p:nvPr/>
        </p:nvSpPr>
        <p:spPr>
          <a:xfrm>
            <a:off x="3516004" y="2200274"/>
            <a:ext cx="2141190" cy="9751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Convert raw rasters to compliant CLIMADA Hazards and map geographic Exposure objects.</a:t>
            </a:r>
            <a:endParaRPr/>
          </a:p>
        </p:txBody>
      </p:sp>
      <p:sp>
        <p:nvSpPr>
          <p:cNvPr id="163" name="Google Shape;163;p18"/>
          <p:cNvSpPr txBox="1"/>
          <p:nvPr/>
        </p:nvSpPr>
        <p:spPr>
          <a:xfrm>
            <a:off x="6298395" y="4337446"/>
            <a:ext cx="2248249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07B9E"/>
                </a:solidFill>
                <a:latin typeface="Merriweather"/>
                <a:ea typeface="Merriweather"/>
                <a:cs typeface="Merriweather"/>
                <a:sym typeface="Merriweather"/>
              </a:rPr>
              <a:t>3. Vulnerability</a:t>
            </a:r>
            <a:endParaRPr/>
          </a:p>
        </p:txBody>
      </p:sp>
      <p:sp>
        <p:nvSpPr>
          <p:cNvPr id="164" name="Google Shape;164;p18"/>
          <p:cNvSpPr txBox="1"/>
          <p:nvPr/>
        </p:nvSpPr>
        <p:spPr>
          <a:xfrm>
            <a:off x="6351924" y="4699396"/>
            <a:ext cx="2141190" cy="9751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Define precise Impact Functions linking physical intensity to population or structural damage.</a:t>
            </a:r>
            <a:endParaRPr/>
          </a:p>
        </p:txBody>
      </p:sp>
      <p:sp>
        <p:nvSpPr>
          <p:cNvPr id="165" name="Google Shape;165;p18"/>
          <p:cNvSpPr txBox="1"/>
          <p:nvPr/>
        </p:nvSpPr>
        <p:spPr>
          <a:xfrm>
            <a:off x="9134315" y="1838325"/>
            <a:ext cx="2248249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007B9E"/>
                </a:solidFill>
                <a:latin typeface="Merriweather"/>
                <a:ea typeface="Merriweather"/>
                <a:cs typeface="Merriweather"/>
                <a:sym typeface="Merriweather"/>
              </a:rPr>
              <a:t>4. Computation</a:t>
            </a:r>
            <a:endParaRPr/>
          </a:p>
        </p:txBody>
      </p:sp>
      <p:sp>
        <p:nvSpPr>
          <p:cNvPr id="166" name="Google Shape;166;p18"/>
          <p:cNvSpPr txBox="1"/>
          <p:nvPr/>
        </p:nvSpPr>
        <p:spPr>
          <a:xfrm>
            <a:off x="9187844" y="2200274"/>
            <a:ext cx="2141190" cy="9751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Execute impact calculations, perform localized event analysis, and aggregate final metrics.</a:t>
            </a:r>
            <a:endParaRPr/>
          </a:p>
        </p:txBody>
      </p:sp>
      <p:sp>
        <p:nvSpPr>
          <p:cNvPr id="167" name="Google Shape;167;p18"/>
          <p:cNvSpPr/>
          <p:nvPr/>
        </p:nvSpPr>
        <p:spPr>
          <a:xfrm>
            <a:off x="1636380" y="3642121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F8F5EE"/>
          </a:solidFill>
          <a:ln w="47625" cap="flat" cmpd="sng">
            <a:solidFill>
              <a:srgbClr val="0041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8"/>
          <p:cNvSpPr/>
          <p:nvPr/>
        </p:nvSpPr>
        <p:spPr>
          <a:xfrm>
            <a:off x="4472300" y="3642121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F8F5EE"/>
          </a:solidFill>
          <a:ln w="47625" cap="flat" cmpd="sng">
            <a:solidFill>
              <a:srgbClr val="0041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8"/>
          <p:cNvSpPr/>
          <p:nvPr/>
        </p:nvSpPr>
        <p:spPr>
          <a:xfrm>
            <a:off x="7308219" y="3642121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F8F5EE"/>
          </a:solidFill>
          <a:ln w="47625" cap="flat" cmpd="sng">
            <a:solidFill>
              <a:srgbClr val="0041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8"/>
          <p:cNvSpPr/>
          <p:nvPr/>
        </p:nvSpPr>
        <p:spPr>
          <a:xfrm>
            <a:off x="10144139" y="3642121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F8F5EE"/>
          </a:solidFill>
          <a:ln w="47625" cap="flat" cmpd="sng">
            <a:solidFill>
              <a:srgbClr val="0041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8"/>
          <p:cNvSpPr txBox="1"/>
          <p:nvPr/>
        </p:nvSpPr>
        <p:spPr>
          <a:xfrm>
            <a:off x="571500" y="571500"/>
            <a:ext cx="1160145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415A"/>
                </a:solidFill>
                <a:latin typeface="Merriweather"/>
                <a:ea typeface="Merriweather"/>
                <a:cs typeface="Merriweather"/>
                <a:sym typeface="Merriweather"/>
              </a:rPr>
              <a:t>Workflow Overview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EE"/>
        </a:solidFill>
        <a:effectLst/>
      </p:bgPr>
    </p:bg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" name="Google Shape;176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7" name="Google Shape;177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975395"/>
            <a:ext cx="5286375" cy="2885628"/>
          </a:xfrm>
          <a:prstGeom prst="rect">
            <a:avLst/>
          </a:prstGeom>
          <a:noFill/>
          <a:ln>
            <a:noFill/>
          </a:ln>
        </p:spPr>
      </p:pic>
      <p:pic>
        <p:nvPicPr>
          <p:cNvPr id="178" name="Google Shape;178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1975395"/>
            <a:ext cx="5286375" cy="2885628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19"/>
          <p:cNvSpPr txBox="1"/>
          <p:nvPr/>
        </p:nvSpPr>
        <p:spPr>
          <a:xfrm>
            <a:off x="571500" y="1400175"/>
            <a:ext cx="11049000" cy="289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Goal: Transform raw climatic geospatial data into CLIMADA-compatible hazard events.</a:t>
            </a:r>
            <a:endParaRPr/>
          </a:p>
        </p:txBody>
      </p:sp>
      <p:sp>
        <p:nvSpPr>
          <p:cNvPr id="180" name="Google Shape;180;p19"/>
          <p:cNvSpPr txBox="1"/>
          <p:nvPr/>
        </p:nvSpPr>
        <p:spPr>
          <a:xfrm>
            <a:off x="962025" y="2365920"/>
            <a:ext cx="4730591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415A"/>
                </a:solidFill>
                <a:latin typeface="Merriweather"/>
                <a:ea typeface="Merriweather"/>
                <a:cs typeface="Merriweather"/>
                <a:sym typeface="Merriweather"/>
              </a:rPr>
              <a:t>Flood Hazard</a:t>
            </a:r>
            <a:endParaRPr/>
          </a:p>
        </p:txBody>
      </p:sp>
      <p:sp>
        <p:nvSpPr>
          <p:cNvPr id="181" name="Google Shape;181;p19"/>
          <p:cNvSpPr txBox="1"/>
          <p:nvPr/>
        </p:nvSpPr>
        <p:spPr>
          <a:xfrm>
            <a:off x="962025" y="2880270"/>
            <a:ext cx="4505325" cy="14473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High-resolution raster flood intensity layers are parsed and dynamically converted into specific CLIMADA Hazard objects using the custom tif_to_hazard() function, ensuring strict retention of original spatial resolution.</a:t>
            </a:r>
            <a:endParaRPr/>
          </a:p>
        </p:txBody>
      </p:sp>
      <p:sp>
        <p:nvSpPr>
          <p:cNvPr id="182" name="Google Shape;182;p19"/>
          <p:cNvSpPr txBox="1"/>
          <p:nvPr/>
        </p:nvSpPr>
        <p:spPr>
          <a:xfrm>
            <a:off x="6724650" y="2365920"/>
            <a:ext cx="4730591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415A"/>
                </a:solidFill>
                <a:latin typeface="Merriweather"/>
                <a:ea typeface="Merriweather"/>
                <a:cs typeface="Merriweather"/>
                <a:sym typeface="Merriweather"/>
              </a:rPr>
              <a:t>Drought Hazard</a:t>
            </a:r>
            <a:endParaRPr/>
          </a:p>
        </p:txBody>
      </p:sp>
      <p:sp>
        <p:nvSpPr>
          <p:cNvPr id="183" name="Google Shape;183;p19"/>
          <p:cNvSpPr txBox="1"/>
          <p:nvPr/>
        </p:nvSpPr>
        <p:spPr>
          <a:xfrm>
            <a:off x="6724650" y="2880270"/>
            <a:ext cx="4505325" cy="14473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Standardized Precipitation Evapotranspiration Index (SPEI) matrices from NetCDF are meticulously processed into discrete hazard events via spei_nc_to_hazard() and programmatically structured with fix_hazard_events().</a:t>
            </a:r>
            <a:endParaRPr/>
          </a:p>
        </p:txBody>
      </p:sp>
      <p:sp>
        <p:nvSpPr>
          <p:cNvPr id="184" name="Google Shape;184;p19"/>
          <p:cNvSpPr txBox="1"/>
          <p:nvPr/>
        </p:nvSpPr>
        <p:spPr>
          <a:xfrm>
            <a:off x="571500" y="571500"/>
            <a:ext cx="1160145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415A"/>
                </a:solidFill>
                <a:latin typeface="Merriweather"/>
                <a:ea typeface="Merriweather"/>
                <a:cs typeface="Merriweather"/>
                <a:sym typeface="Merriweather"/>
              </a:rPr>
              <a:t>Hazard Construction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EE"/>
        </a:solidFill>
        <a:effectLst/>
      </p:bgPr>
    </p:bg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9" name="Google Shape;189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20"/>
          <p:cNvSpPr txBox="1"/>
          <p:nvPr/>
        </p:nvSpPr>
        <p:spPr>
          <a:xfrm>
            <a:off x="6334125" y="1400175"/>
            <a:ext cx="5550693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415A"/>
                </a:solidFill>
                <a:latin typeface="Merriweather"/>
                <a:ea typeface="Merriweather"/>
                <a:cs typeface="Merriweather"/>
                <a:sym typeface="Merriweather"/>
              </a:rPr>
              <a:t>Population Exposure</a:t>
            </a:r>
            <a:endParaRPr/>
          </a:p>
        </p:txBody>
      </p:sp>
      <p:sp>
        <p:nvSpPr>
          <p:cNvPr id="193" name="Google Shape;193;p20"/>
          <p:cNvSpPr txBox="1"/>
          <p:nvPr/>
        </p:nvSpPr>
        <p:spPr>
          <a:xfrm>
            <a:off x="6505575" y="1916430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94" name="Google Shape;194;p20"/>
          <p:cNvSpPr txBox="1"/>
          <p:nvPr/>
        </p:nvSpPr>
        <p:spPr>
          <a:xfrm>
            <a:off x="6572250" y="1914525"/>
            <a:ext cx="5048250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Exposure modelling creates the direct spatial link between vulnerable demographics and localized hazard footprints.</a:t>
            </a:r>
            <a:endParaRPr/>
          </a:p>
        </p:txBody>
      </p:sp>
      <p:sp>
        <p:nvSpPr>
          <p:cNvPr id="195" name="Google Shape;195;p20"/>
          <p:cNvSpPr txBox="1"/>
          <p:nvPr/>
        </p:nvSpPr>
        <p:spPr>
          <a:xfrm>
            <a:off x="6505575" y="2638246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96" name="Google Shape;196;p20"/>
          <p:cNvSpPr txBox="1"/>
          <p:nvPr/>
        </p:nvSpPr>
        <p:spPr>
          <a:xfrm>
            <a:off x="6572250" y="2636341"/>
            <a:ext cx="5048250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Extensive raster population datasets are programmatically mapped to CLIMADA Exposure objects.</a:t>
            </a:r>
            <a:endParaRPr/>
          </a:p>
        </p:txBody>
      </p:sp>
      <p:sp>
        <p:nvSpPr>
          <p:cNvPr id="197" name="Google Shape;197;p20"/>
          <p:cNvSpPr txBox="1"/>
          <p:nvPr/>
        </p:nvSpPr>
        <p:spPr>
          <a:xfrm>
            <a:off x="6505575" y="3360062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98" name="Google Shape;198;p20"/>
          <p:cNvSpPr txBox="1"/>
          <p:nvPr/>
        </p:nvSpPr>
        <p:spPr>
          <a:xfrm>
            <a:off x="6572250" y="3358157"/>
            <a:ext cx="5048250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The pop_to_exposures() function accurately interprets geographical coordinate bounds.</a:t>
            </a:r>
            <a:endParaRPr/>
          </a:p>
        </p:txBody>
      </p:sp>
      <p:sp>
        <p:nvSpPr>
          <p:cNvPr id="199" name="Google Shape;199;p20"/>
          <p:cNvSpPr txBox="1"/>
          <p:nvPr/>
        </p:nvSpPr>
        <p:spPr>
          <a:xfrm>
            <a:off x="6505575" y="4081879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200" name="Google Shape;200;p20"/>
          <p:cNvSpPr txBox="1"/>
          <p:nvPr/>
        </p:nvSpPr>
        <p:spPr>
          <a:xfrm>
            <a:off x="6572250" y="4079974"/>
            <a:ext cx="5048250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The final resulting objects contain exact longitude/latitude pairs explicitly mapped to population counts.</a:t>
            </a:r>
            <a:endParaRPr/>
          </a:p>
        </p:txBody>
      </p:sp>
      <p:sp>
        <p:nvSpPr>
          <p:cNvPr id="201" name="Google Shape;201;p20"/>
          <p:cNvSpPr txBox="1"/>
          <p:nvPr/>
        </p:nvSpPr>
        <p:spPr>
          <a:xfrm>
            <a:off x="571500" y="571500"/>
            <a:ext cx="1160145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415A"/>
                </a:solidFill>
                <a:latin typeface="Merriweather"/>
                <a:ea typeface="Merriweather"/>
                <a:cs typeface="Merriweather"/>
                <a:sym typeface="Merriweather"/>
              </a:rPr>
              <a:t>Exposure Modelling</a:t>
            </a:r>
            <a:endParaRPr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0B8BA0F-9A33-74F9-AD9F-7784A86398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069" y="1300000"/>
            <a:ext cx="5660763" cy="487219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EE"/>
        </a:solidFill>
        <a:effectLst/>
      </p:bgPr>
    </p:bg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1400175"/>
            <a:ext cx="5286375" cy="36195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1"/>
          <p:cNvSpPr txBox="1"/>
          <p:nvPr/>
        </p:nvSpPr>
        <p:spPr>
          <a:xfrm>
            <a:off x="571500" y="1400175"/>
            <a:ext cx="5550693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415A"/>
                </a:solidFill>
                <a:latin typeface="Merriweather"/>
                <a:ea typeface="Merriweather"/>
                <a:cs typeface="Merriweather"/>
                <a:sym typeface="Merriweather"/>
              </a:rPr>
              <a:t>Vulnerability Modelling</a:t>
            </a:r>
            <a:endParaRPr/>
          </a:p>
        </p:txBody>
      </p:sp>
      <p:sp>
        <p:nvSpPr>
          <p:cNvPr id="209" name="Google Shape;209;p21"/>
          <p:cNvSpPr txBox="1"/>
          <p:nvPr/>
        </p:nvSpPr>
        <p:spPr>
          <a:xfrm>
            <a:off x="742950" y="1916430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210" name="Google Shape;210;p21"/>
          <p:cNvSpPr txBox="1"/>
          <p:nvPr/>
        </p:nvSpPr>
        <p:spPr>
          <a:xfrm>
            <a:off x="809625" y="1914525"/>
            <a:ext cx="5048250" cy="868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Impact functions embody the critical threshold relationship between environmental extremes and resulting socioeconomic damage.</a:t>
            </a:r>
            <a:endParaRPr/>
          </a:p>
        </p:txBody>
      </p:sp>
      <p:sp>
        <p:nvSpPr>
          <p:cNvPr id="211" name="Google Shape;211;p21"/>
          <p:cNvSpPr txBox="1"/>
          <p:nvPr/>
        </p:nvSpPr>
        <p:spPr>
          <a:xfrm>
            <a:off x="742950" y="2927717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212" name="Google Shape;212;p21"/>
          <p:cNvSpPr txBox="1"/>
          <p:nvPr/>
        </p:nvSpPr>
        <p:spPr>
          <a:xfrm>
            <a:off x="809625" y="2925812"/>
            <a:ext cx="5048250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They are absolutely necessary to translate pure physical hazard magnitudes into actionable impact metrics.</a:t>
            </a:r>
            <a:endParaRPr/>
          </a:p>
        </p:txBody>
      </p:sp>
      <p:sp>
        <p:nvSpPr>
          <p:cNvPr id="213" name="Google Shape;213;p21"/>
          <p:cNvSpPr txBox="1"/>
          <p:nvPr/>
        </p:nvSpPr>
        <p:spPr>
          <a:xfrm>
            <a:off x="742950" y="3668583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214" name="Google Shape;214;p21"/>
          <p:cNvSpPr txBox="1"/>
          <p:nvPr/>
        </p:nvSpPr>
        <p:spPr>
          <a:xfrm>
            <a:off x="809625" y="3666678"/>
            <a:ext cx="5048250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In CLIMADA, they explicitly define three core parameters:</a:t>
            </a:r>
            <a:endParaRPr/>
          </a:p>
        </p:txBody>
      </p:sp>
      <p:sp>
        <p:nvSpPr>
          <p:cNvPr id="216" name="Google Shape;216;p21"/>
          <p:cNvSpPr txBox="1"/>
          <p:nvPr/>
        </p:nvSpPr>
        <p:spPr>
          <a:xfrm>
            <a:off x="981075" y="4034254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217" name="Google Shape;217;p21"/>
          <p:cNvSpPr txBox="1"/>
          <p:nvPr/>
        </p:nvSpPr>
        <p:spPr>
          <a:xfrm>
            <a:off x="1047750" y="4032349"/>
            <a:ext cx="4810125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Intensity:</a:t>
            </a:r>
            <a:r>
              <a:rPr lang="en-US" sz="142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The absolute magnitude of the specific hazard.</a:t>
            </a:r>
            <a:endParaRPr/>
          </a:p>
        </p:txBody>
      </p:sp>
      <p:sp>
        <p:nvSpPr>
          <p:cNvPr id="218" name="Google Shape;218;p21"/>
          <p:cNvSpPr txBox="1"/>
          <p:nvPr/>
        </p:nvSpPr>
        <p:spPr>
          <a:xfrm>
            <a:off x="981075" y="4756070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219" name="Google Shape;219;p21"/>
          <p:cNvSpPr txBox="1"/>
          <p:nvPr/>
        </p:nvSpPr>
        <p:spPr>
          <a:xfrm>
            <a:off x="1047750" y="4754165"/>
            <a:ext cx="4810125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Mean Damage Degree:</a:t>
            </a:r>
            <a:r>
              <a:rPr lang="en-US" sz="142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The expected severity of the physical loss.</a:t>
            </a:r>
            <a:endParaRPr/>
          </a:p>
        </p:txBody>
      </p:sp>
      <p:sp>
        <p:nvSpPr>
          <p:cNvPr id="220" name="Google Shape;220;p21"/>
          <p:cNvSpPr txBox="1"/>
          <p:nvPr/>
        </p:nvSpPr>
        <p:spPr>
          <a:xfrm>
            <a:off x="981075" y="5477887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221" name="Google Shape;221;p21"/>
          <p:cNvSpPr txBox="1"/>
          <p:nvPr/>
        </p:nvSpPr>
        <p:spPr>
          <a:xfrm>
            <a:off x="1047750" y="5475982"/>
            <a:ext cx="4810125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Probability:</a:t>
            </a:r>
            <a:r>
              <a:rPr lang="en-US" sz="142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The likelihood of an exposed asset sustaining damage.</a:t>
            </a:r>
            <a:endParaRPr/>
          </a:p>
        </p:txBody>
      </p:sp>
      <p:sp>
        <p:nvSpPr>
          <p:cNvPr id="222" name="Google Shape;222;p21"/>
          <p:cNvSpPr txBox="1"/>
          <p:nvPr/>
        </p:nvSpPr>
        <p:spPr>
          <a:xfrm>
            <a:off x="571500" y="571500"/>
            <a:ext cx="1160145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415A"/>
                </a:solidFill>
                <a:latin typeface="Merriweather"/>
                <a:ea typeface="Merriweather"/>
                <a:cs typeface="Merriweather"/>
                <a:sym typeface="Merriweather"/>
              </a:rPr>
              <a:t>Impact Functions</a:t>
            </a:r>
            <a:endParaRPr/>
          </a:p>
        </p:txBody>
      </p:sp>
      <p:sp>
        <p:nvSpPr>
          <p:cNvPr id="2" name="AutoShape 2" descr="Imagen de salida">
            <a:extLst>
              <a:ext uri="{FF2B5EF4-FFF2-40B4-BE49-F238E27FC236}">
                <a16:creationId xmlns:a16="http://schemas.microsoft.com/office/drawing/2014/main" id="{73F9F10D-C444-7491-42E6-4C6ED095F20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CO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764B72EB-389C-42E8-904A-2E058134D3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8399" y="1400174"/>
            <a:ext cx="5636449" cy="378447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EE"/>
        </a:solidFill>
        <a:effectLst/>
      </p:bgPr>
    </p:bg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7" name="Google Shape;227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400175"/>
            <a:ext cx="3429000" cy="39180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29" name="Google Shape;229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81500" y="1400175"/>
            <a:ext cx="3429000" cy="39180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91500" y="1400175"/>
            <a:ext cx="3429000" cy="3918049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22"/>
          <p:cNvSpPr txBox="1"/>
          <p:nvPr/>
        </p:nvSpPr>
        <p:spPr>
          <a:xfrm>
            <a:off x="1270873" y="2581275"/>
            <a:ext cx="2030253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415A"/>
                </a:solidFill>
                <a:latin typeface="Merriweather"/>
                <a:ea typeface="Merriweather"/>
                <a:cs typeface="Merriweather"/>
                <a:sym typeface="Merriweather"/>
              </a:rPr>
              <a:t>Impact Engine</a:t>
            </a:r>
            <a:endParaRPr/>
          </a:p>
        </p:txBody>
      </p:sp>
      <p:sp>
        <p:nvSpPr>
          <p:cNvPr id="232" name="Google Shape;232;p22"/>
          <p:cNvSpPr txBox="1"/>
          <p:nvPr/>
        </p:nvSpPr>
        <p:spPr>
          <a:xfrm>
            <a:off x="819150" y="3095625"/>
            <a:ext cx="2933700" cy="14473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The core computational module of CLIMADA designed to orchestrate the vast spatial intersection of massive hazard matrices and exposure arrays.</a:t>
            </a:r>
            <a:endParaRPr/>
          </a:p>
        </p:txBody>
      </p:sp>
      <p:sp>
        <p:nvSpPr>
          <p:cNvPr id="233" name="Google Shape;233;p22"/>
          <p:cNvSpPr txBox="1"/>
          <p:nvPr/>
        </p:nvSpPr>
        <p:spPr>
          <a:xfrm>
            <a:off x="5255895" y="2581275"/>
            <a:ext cx="168021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415A"/>
                </a:solidFill>
                <a:latin typeface="Merriweather"/>
                <a:ea typeface="Merriweather"/>
                <a:cs typeface="Merriweather"/>
                <a:sym typeface="Merriweather"/>
              </a:rPr>
              <a:t>The Process</a:t>
            </a:r>
            <a:endParaRPr/>
          </a:p>
        </p:txBody>
      </p:sp>
      <p:sp>
        <p:nvSpPr>
          <p:cNvPr id="234" name="Google Shape;234;p22"/>
          <p:cNvSpPr txBox="1"/>
          <p:nvPr/>
        </p:nvSpPr>
        <p:spPr>
          <a:xfrm>
            <a:off x="4629150" y="3095625"/>
            <a:ext cx="2933700" cy="17368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Algorithmically extracts local hazard intensity at specific exposure coordinates, applies the assigned impact function, and computes the mathematically expected damage.</a:t>
            </a:r>
            <a:endParaRPr/>
          </a:p>
        </p:txBody>
      </p:sp>
      <p:sp>
        <p:nvSpPr>
          <p:cNvPr id="235" name="Google Shape;235;p22"/>
          <p:cNvSpPr txBox="1"/>
          <p:nvPr/>
        </p:nvSpPr>
        <p:spPr>
          <a:xfrm>
            <a:off x="8615838" y="2581275"/>
            <a:ext cx="2580322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415A"/>
                </a:solidFill>
                <a:latin typeface="Merriweather"/>
                <a:ea typeface="Merriweather"/>
                <a:cs typeface="Merriweather"/>
                <a:sym typeface="Merriweather"/>
              </a:rPr>
              <a:t>Generated Outputs</a:t>
            </a:r>
            <a:endParaRPr/>
          </a:p>
        </p:txBody>
      </p:sp>
      <p:sp>
        <p:nvSpPr>
          <p:cNvPr id="236" name="Google Shape;236;p22"/>
          <p:cNvSpPr txBox="1"/>
          <p:nvPr/>
        </p:nvSpPr>
        <p:spPr>
          <a:xfrm>
            <a:off x="8439150" y="3095625"/>
            <a:ext cx="2933700" cy="14473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Yields highly detailed analytic metrics including explicit impact per temporal event, aggregated overall impacts, and exhaustive spatial distribution grids.</a:t>
            </a:r>
            <a:endParaRPr/>
          </a:p>
        </p:txBody>
      </p:sp>
      <p:pic>
        <p:nvPicPr>
          <p:cNvPr id="237" name="Google Shape;237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057400" y="1800225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22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10250" y="1800225"/>
            <a:ext cx="5715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22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705975" y="1800225"/>
            <a:ext cx="40005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p22"/>
          <p:cNvSpPr txBox="1"/>
          <p:nvPr/>
        </p:nvSpPr>
        <p:spPr>
          <a:xfrm>
            <a:off x="571500" y="571500"/>
            <a:ext cx="1160145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415A"/>
                </a:solidFill>
                <a:latin typeface="Merriweather"/>
                <a:ea typeface="Merriweather"/>
                <a:cs typeface="Merriweather"/>
                <a:sym typeface="Merriweather"/>
              </a:rPr>
              <a:t>Impact Calculation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EE"/>
        </a:solidFill>
        <a:effectLst/>
      </p:bgPr>
    </p:bg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" name="Google Shape;245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6" name="Google Shape;246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400175"/>
            <a:ext cx="5286375" cy="4472136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1400175"/>
            <a:ext cx="5286375" cy="4472136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p23"/>
          <p:cNvSpPr txBox="1"/>
          <p:nvPr/>
        </p:nvSpPr>
        <p:spPr>
          <a:xfrm>
            <a:off x="962025" y="1790700"/>
            <a:ext cx="4730591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415A"/>
                </a:solidFill>
                <a:latin typeface="Merriweather"/>
                <a:ea typeface="Merriweather"/>
                <a:cs typeface="Merriweather"/>
                <a:sym typeface="Merriweather"/>
              </a:rPr>
              <a:t>Refinement Steps</a:t>
            </a:r>
            <a:endParaRPr/>
          </a:p>
        </p:txBody>
      </p:sp>
      <p:sp>
        <p:nvSpPr>
          <p:cNvPr id="249" name="Google Shape;249;p23"/>
          <p:cNvSpPr txBox="1"/>
          <p:nvPr/>
        </p:nvSpPr>
        <p:spPr>
          <a:xfrm>
            <a:off x="962025" y="2305050"/>
            <a:ext cx="4505325" cy="868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Crucial supplementary processing steps within the analytical notebook ensure unparalleled modelling robustness:</a:t>
            </a:r>
            <a:endParaRPr/>
          </a:p>
        </p:txBody>
      </p:sp>
      <p:sp>
        <p:nvSpPr>
          <p:cNvPr id="250" name="Google Shape;250;p23"/>
          <p:cNvSpPr txBox="1"/>
          <p:nvPr/>
        </p:nvSpPr>
        <p:spPr>
          <a:xfrm>
            <a:off x="6724650" y="1790700"/>
            <a:ext cx="4730591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415A"/>
                </a:solidFill>
                <a:latin typeface="Merriweather"/>
                <a:ea typeface="Merriweather"/>
                <a:cs typeface="Merriweather"/>
                <a:sym typeface="Merriweather"/>
              </a:rPr>
              <a:t>Methodology &amp; Purpose</a:t>
            </a:r>
            <a:endParaRPr/>
          </a:p>
        </p:txBody>
      </p:sp>
      <p:sp>
        <p:nvSpPr>
          <p:cNvPr id="251" name="Google Shape;251;p23"/>
          <p:cNvSpPr txBox="1"/>
          <p:nvPr/>
        </p:nvSpPr>
        <p:spPr>
          <a:xfrm>
            <a:off x="6724650" y="2305050"/>
            <a:ext cx="4505325" cy="868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Dedicated functions such as mean_hazard() and parse_hazard_key() are actively utilized to rigorously standardize chaotic inputs.</a:t>
            </a:r>
            <a:endParaRPr/>
          </a:p>
        </p:txBody>
      </p:sp>
      <p:sp>
        <p:nvSpPr>
          <p:cNvPr id="252" name="Google Shape;252;p23"/>
          <p:cNvSpPr txBox="1"/>
          <p:nvPr/>
        </p:nvSpPr>
        <p:spPr>
          <a:xfrm>
            <a:off x="6724650" y="3316337"/>
            <a:ext cx="4505325" cy="1157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Primary Purpose:</a:t>
            </a:r>
            <a:r>
              <a:rPr lang="en-US" sz="142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To dramatically improve the spatial consistency and absolute reliability of hazard datasets prior to initiating the heavy computational impact calculations.</a:t>
            </a:r>
            <a:endParaRPr/>
          </a:p>
        </p:txBody>
      </p:sp>
      <p:sp>
        <p:nvSpPr>
          <p:cNvPr id="253" name="Google Shape;253;p23"/>
          <p:cNvSpPr txBox="1"/>
          <p:nvPr/>
        </p:nvSpPr>
        <p:spPr>
          <a:xfrm>
            <a:off x="1276350" y="3318242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254" name="Google Shape;254;p23"/>
          <p:cNvSpPr txBox="1"/>
          <p:nvPr/>
        </p:nvSpPr>
        <p:spPr>
          <a:xfrm>
            <a:off x="1343025" y="3316337"/>
            <a:ext cx="4124325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Automated hazard event corrections to mitigate missing or erratic sensory data.</a:t>
            </a:r>
            <a:endParaRPr/>
          </a:p>
        </p:txBody>
      </p:sp>
      <p:sp>
        <p:nvSpPr>
          <p:cNvPr id="255" name="Google Shape;255;p23"/>
          <p:cNvSpPr txBox="1"/>
          <p:nvPr/>
        </p:nvSpPr>
        <p:spPr>
          <a:xfrm>
            <a:off x="1276350" y="4040058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256" name="Google Shape;256;p23"/>
          <p:cNvSpPr txBox="1"/>
          <p:nvPr/>
        </p:nvSpPr>
        <p:spPr>
          <a:xfrm>
            <a:off x="1343025" y="4038153"/>
            <a:ext cx="4124325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Targeted event averaging over specific temporal windows to analyze prolonged hazards.</a:t>
            </a:r>
            <a:endParaRPr/>
          </a:p>
        </p:txBody>
      </p:sp>
      <p:sp>
        <p:nvSpPr>
          <p:cNvPr id="257" name="Google Shape;257;p23"/>
          <p:cNvSpPr txBox="1"/>
          <p:nvPr/>
        </p:nvSpPr>
        <p:spPr>
          <a:xfrm>
            <a:off x="1276350" y="4761874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258" name="Google Shape;258;p23"/>
          <p:cNvSpPr txBox="1"/>
          <p:nvPr/>
        </p:nvSpPr>
        <p:spPr>
          <a:xfrm>
            <a:off x="1032129" y="5100619"/>
            <a:ext cx="4124325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 dirty="0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Thorough event aggregation for comprehensive, cumulative risk profiling.</a:t>
            </a:r>
            <a:endParaRPr dirty="0"/>
          </a:p>
        </p:txBody>
      </p:sp>
      <p:sp>
        <p:nvSpPr>
          <p:cNvPr id="259" name="Google Shape;259;p23"/>
          <p:cNvSpPr txBox="1"/>
          <p:nvPr/>
        </p:nvSpPr>
        <p:spPr>
          <a:xfrm>
            <a:off x="571500" y="571500"/>
            <a:ext cx="1160145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415A"/>
                </a:solidFill>
                <a:latin typeface="Merriweather"/>
                <a:ea typeface="Merriweather"/>
                <a:cs typeface="Merriweather"/>
                <a:sym typeface="Merriweather"/>
              </a:rPr>
              <a:t>Event Processing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EE"/>
        </a:solidFill>
        <a:effectLst/>
      </p:bgPr>
    </p:bg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4" name="Google Shape;264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5" name="Google Shape;265;p2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400175"/>
            <a:ext cx="3429000" cy="2190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6" name="Google Shape;266;p2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81500" y="1400175"/>
            <a:ext cx="3429000" cy="2190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7" name="Google Shape;267;p2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191500" y="1400175"/>
            <a:ext cx="3429000" cy="2190750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24"/>
          <p:cNvSpPr txBox="1"/>
          <p:nvPr/>
        </p:nvSpPr>
        <p:spPr>
          <a:xfrm>
            <a:off x="571500" y="3781425"/>
            <a:ext cx="3429000" cy="14473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Affected Population:</a:t>
            </a:r>
            <a:r>
              <a:rPr lang="en-US" sz="142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Expected demographic impacts and displacements mapped precisely across highly exposed geographic regions.</a:t>
            </a:r>
            <a:endParaRPr/>
          </a:p>
        </p:txBody>
      </p:sp>
      <p:sp>
        <p:nvSpPr>
          <p:cNvPr id="269" name="Google Shape;269;p24"/>
          <p:cNvSpPr txBox="1"/>
          <p:nvPr/>
        </p:nvSpPr>
        <p:spPr>
          <a:xfrm>
            <a:off x="4381500" y="3781425"/>
            <a:ext cx="3429000" cy="1157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Event-Based Impacts:</a:t>
            </a:r>
            <a:r>
              <a:rPr lang="en-US" sz="142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Rigorous statistical breakdowns of financial or structural loss per discrete climate catastrophe.</a:t>
            </a:r>
            <a:endParaRPr/>
          </a:p>
        </p:txBody>
      </p:sp>
      <p:sp>
        <p:nvSpPr>
          <p:cNvPr id="270" name="Google Shape;270;p24"/>
          <p:cNvSpPr txBox="1"/>
          <p:nvPr/>
        </p:nvSpPr>
        <p:spPr>
          <a:xfrm>
            <a:off x="8191500" y="3781425"/>
            <a:ext cx="3429000" cy="1157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Spatial Distribution:</a:t>
            </a:r>
            <a:r>
              <a:rPr lang="en-US" sz="142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High-resolution cartographic plotting indicating exactly where the most severe climate damages will manifest.</a:t>
            </a:r>
            <a:endParaRPr/>
          </a:p>
        </p:txBody>
      </p:sp>
      <p:pic>
        <p:nvPicPr>
          <p:cNvPr id="272" name="Google Shape;272;p2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381500" y="1400175"/>
            <a:ext cx="3429000" cy="2190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3" name="Google Shape;273;p2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191500" y="1400175"/>
            <a:ext cx="3429000" cy="2190750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p24"/>
          <p:cNvSpPr txBox="1"/>
          <p:nvPr/>
        </p:nvSpPr>
        <p:spPr>
          <a:xfrm>
            <a:off x="571500" y="571500"/>
            <a:ext cx="1160145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415A"/>
                </a:solidFill>
                <a:latin typeface="Merriweather"/>
                <a:ea typeface="Merriweather"/>
                <a:cs typeface="Merriweather"/>
                <a:sym typeface="Merriweather"/>
              </a:rPr>
              <a:t>Impact Outputs</a:t>
            </a:r>
            <a:endParaRPr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64A57B1-EE5B-60F1-875F-9FB243D7C15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6431" y="1286170"/>
            <a:ext cx="3794569" cy="24187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EE"/>
        </a:solidFill>
        <a:effectLst/>
      </p:bgPr>
    </p:bg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9" name="Google Shape;279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25"/>
          <p:cNvSpPr txBox="1"/>
          <p:nvPr/>
        </p:nvSpPr>
        <p:spPr>
          <a:xfrm>
            <a:off x="1619250" y="1400175"/>
            <a:ext cx="9477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Climate Risk Assessment: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Methodically quantifying expected damages across varied climate projection scenarios to accurately pinpoint highly vulnerable regions and demographics.</a:t>
            </a:r>
            <a:endParaRPr/>
          </a:p>
        </p:txBody>
      </p:sp>
      <p:sp>
        <p:nvSpPr>
          <p:cNvPr id="281" name="Google Shape;281;p25"/>
          <p:cNvSpPr txBox="1"/>
          <p:nvPr/>
        </p:nvSpPr>
        <p:spPr>
          <a:xfrm>
            <a:off x="1619250" y="2295525"/>
            <a:ext cx="9477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Adaptation Planning: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Stress-testing the efficacy of theoretical adaptation measures by systematically modifying their effect on established vulnerability and exposure curves.</a:t>
            </a:r>
            <a:endParaRPr/>
          </a:p>
        </p:txBody>
      </p:sp>
      <p:sp>
        <p:nvSpPr>
          <p:cNvPr id="282" name="Google Shape;282;p25"/>
          <p:cNvSpPr txBox="1"/>
          <p:nvPr/>
        </p:nvSpPr>
        <p:spPr>
          <a:xfrm>
            <a:off x="1619250" y="3190875"/>
            <a:ext cx="9477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Disaster Risk Management: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Demonstrably effective for rapid, comprehensive flood risk analysis and prolonged drought severity mapping to dictate mitigation strategies.</a:t>
            </a:r>
            <a:endParaRPr/>
          </a:p>
        </p:txBody>
      </p:sp>
      <p:sp>
        <p:nvSpPr>
          <p:cNvPr id="283" name="Google Shape;283;p25"/>
          <p:cNvSpPr txBox="1"/>
          <p:nvPr/>
        </p:nvSpPr>
        <p:spPr>
          <a:xfrm>
            <a:off x="1619250" y="4086225"/>
            <a:ext cx="94773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Climate Policy Support:</a:t>
            </a:r>
            <a:r>
              <a:rPr lang="en-US" sz="15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 Yielding mathematically robust, irrefutable data evidence directly to national policymakers and stakeholders to guide long-term resilience investments.</a:t>
            </a:r>
            <a:endParaRPr/>
          </a:p>
        </p:txBody>
      </p:sp>
      <p:pic>
        <p:nvPicPr>
          <p:cNvPr id="284" name="Google Shape;284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95375" y="1414462"/>
            <a:ext cx="266700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5" name="Google Shape;285;p2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95375" y="2309812"/>
            <a:ext cx="266700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6" name="Google Shape;286;p2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095375" y="3205162"/>
            <a:ext cx="304800" cy="276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7" name="Google Shape;287;p2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95375" y="4100512"/>
            <a:ext cx="266700" cy="276225"/>
          </a:xfrm>
          <a:prstGeom prst="rect">
            <a:avLst/>
          </a:prstGeom>
          <a:noFill/>
          <a:ln>
            <a:noFill/>
          </a:ln>
        </p:spPr>
      </p:pic>
      <p:sp>
        <p:nvSpPr>
          <p:cNvPr id="288" name="Google Shape;288;p25"/>
          <p:cNvSpPr txBox="1"/>
          <p:nvPr/>
        </p:nvSpPr>
        <p:spPr>
          <a:xfrm>
            <a:off x="571500" y="571500"/>
            <a:ext cx="1160145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415A"/>
                </a:solidFill>
                <a:latin typeface="Merriweather"/>
                <a:ea typeface="Merriweather"/>
                <a:cs typeface="Merriweather"/>
                <a:sym typeface="Merriweather"/>
              </a:rPr>
              <a:t>Workflow Applications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EE"/>
        </a:solidFill>
        <a:effectLst/>
      </p:bgPr>
    </p:bg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3" name="Google Shape;293;p2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4" name="Google Shape;294;p2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070645"/>
            <a:ext cx="3429000" cy="39180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95" name="Google Shape;295;p2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81500" y="2070645"/>
            <a:ext cx="3429000" cy="39180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96" name="Google Shape;296;p2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91500" y="2070645"/>
            <a:ext cx="3429000" cy="3918049"/>
          </a:xfrm>
          <a:prstGeom prst="rect">
            <a:avLst/>
          </a:prstGeom>
          <a:noFill/>
          <a:ln>
            <a:noFill/>
          </a:ln>
        </p:spPr>
      </p:pic>
      <p:sp>
        <p:nvSpPr>
          <p:cNvPr id="297" name="Google Shape;297;p26"/>
          <p:cNvSpPr txBox="1"/>
          <p:nvPr/>
        </p:nvSpPr>
        <p:spPr>
          <a:xfrm>
            <a:off x="571500" y="1400175"/>
            <a:ext cx="11049000" cy="289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334155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The fully Pythonic implementation offers significant advantages to researchers:</a:t>
            </a:r>
            <a:endParaRPr/>
          </a:p>
        </p:txBody>
      </p:sp>
      <p:sp>
        <p:nvSpPr>
          <p:cNvPr id="298" name="Google Shape;298;p26"/>
          <p:cNvSpPr txBox="1"/>
          <p:nvPr/>
        </p:nvSpPr>
        <p:spPr>
          <a:xfrm>
            <a:off x="755808" y="3251745"/>
            <a:ext cx="3060382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415A"/>
                </a:solidFill>
                <a:latin typeface="Merriweather"/>
                <a:ea typeface="Merriweather"/>
                <a:cs typeface="Merriweather"/>
                <a:sym typeface="Merriweather"/>
              </a:rPr>
              <a:t>Reproducible Pipeline</a:t>
            </a:r>
            <a:endParaRPr/>
          </a:p>
        </p:txBody>
      </p:sp>
      <p:sp>
        <p:nvSpPr>
          <p:cNvPr id="299" name="Google Shape;299;p26"/>
          <p:cNvSpPr txBox="1"/>
          <p:nvPr/>
        </p:nvSpPr>
        <p:spPr>
          <a:xfrm>
            <a:off x="819150" y="3766095"/>
            <a:ext cx="2933700" cy="17368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The entirely scripted methodology guarantees that every sequential operation, from initial data loading to terminal output generation, is perfectly repeatable and transparent.</a:t>
            </a:r>
            <a:endParaRPr/>
          </a:p>
        </p:txBody>
      </p:sp>
      <p:sp>
        <p:nvSpPr>
          <p:cNvPr id="300" name="Google Shape;300;p26"/>
          <p:cNvSpPr txBox="1"/>
          <p:nvPr/>
        </p:nvSpPr>
        <p:spPr>
          <a:xfrm>
            <a:off x="4950856" y="3251745"/>
            <a:ext cx="2290286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415A"/>
                </a:solidFill>
                <a:latin typeface="Merriweather"/>
                <a:ea typeface="Merriweather"/>
                <a:cs typeface="Merriweather"/>
                <a:sym typeface="Merriweather"/>
              </a:rPr>
              <a:t>Data Integration</a:t>
            </a:r>
            <a:endParaRPr/>
          </a:p>
        </p:txBody>
      </p:sp>
      <p:sp>
        <p:nvSpPr>
          <p:cNvPr id="301" name="Google Shape;301;p26"/>
          <p:cNvSpPr txBox="1"/>
          <p:nvPr/>
        </p:nvSpPr>
        <p:spPr>
          <a:xfrm>
            <a:off x="4629150" y="3766095"/>
            <a:ext cx="2933700" cy="17368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The framework seamlessly marries diverse, complex physical climate indicators with multi-dimensional socioeconomic data layers allowing for infinitely flexible hazard modelling.</a:t>
            </a:r>
            <a:endParaRPr/>
          </a:p>
        </p:txBody>
      </p:sp>
      <p:sp>
        <p:nvSpPr>
          <p:cNvPr id="302" name="Google Shape;302;p26"/>
          <p:cNvSpPr txBox="1"/>
          <p:nvPr/>
        </p:nvSpPr>
        <p:spPr>
          <a:xfrm>
            <a:off x="8825865" y="3251745"/>
            <a:ext cx="2160270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415A"/>
                </a:solidFill>
                <a:latin typeface="Merriweather"/>
                <a:ea typeface="Merriweather"/>
                <a:cs typeface="Merriweather"/>
                <a:sym typeface="Merriweather"/>
              </a:rPr>
              <a:t>Highly Scalable</a:t>
            </a:r>
            <a:endParaRPr/>
          </a:p>
        </p:txBody>
      </p:sp>
      <p:sp>
        <p:nvSpPr>
          <p:cNvPr id="303" name="Google Shape;303;p26"/>
          <p:cNvSpPr txBox="1"/>
          <p:nvPr/>
        </p:nvSpPr>
        <p:spPr>
          <a:xfrm>
            <a:off x="8439150" y="3766095"/>
            <a:ext cx="2933700" cy="17368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The underlying architecture ensures the exact same analytical code can scale flawlessly from extremely localized city models to vast, multi-regional continental studies.</a:t>
            </a:r>
            <a:endParaRPr/>
          </a:p>
        </p:txBody>
      </p:sp>
      <p:pic>
        <p:nvPicPr>
          <p:cNvPr id="304" name="Google Shape;304;p2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085975" y="2470695"/>
            <a:ext cx="4000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5" name="Google Shape;305;p26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38825" y="2470695"/>
            <a:ext cx="5143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6" name="Google Shape;306;p26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705975" y="2470695"/>
            <a:ext cx="40005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307" name="Google Shape;307;p26"/>
          <p:cNvSpPr txBox="1"/>
          <p:nvPr/>
        </p:nvSpPr>
        <p:spPr>
          <a:xfrm>
            <a:off x="571500" y="571500"/>
            <a:ext cx="1160145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415A"/>
                </a:solidFill>
                <a:latin typeface="Merriweather"/>
                <a:ea typeface="Merriweather"/>
                <a:cs typeface="Merriweather"/>
                <a:sym typeface="Merriweather"/>
              </a:rPr>
              <a:t>Approach Advantages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EE"/>
        </a:solidFill>
        <a:effectLst/>
      </p:bgPr>
    </p:bg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2" name="Google Shape;312;p2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13" name="Google Shape;313;p27"/>
          <p:cNvSpPr txBox="1"/>
          <p:nvPr/>
        </p:nvSpPr>
        <p:spPr>
          <a:xfrm>
            <a:off x="571500" y="571500"/>
            <a:ext cx="5550693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415A"/>
                </a:solidFill>
                <a:latin typeface="Merriweather"/>
                <a:ea typeface="Merriweather"/>
                <a:cs typeface="Merriweather"/>
                <a:sym typeface="Merriweather"/>
              </a:rPr>
              <a:t>Conclusions</a:t>
            </a:r>
            <a:endParaRPr/>
          </a:p>
        </p:txBody>
      </p:sp>
      <p:pic>
        <p:nvPicPr>
          <p:cNvPr id="314" name="Google Shape;314;p2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0"/>
            <a:ext cx="585787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p27"/>
          <p:cNvSpPr txBox="1"/>
          <p:nvPr/>
        </p:nvSpPr>
        <p:spPr>
          <a:xfrm>
            <a:off x="571500" y="2142529"/>
            <a:ext cx="5550693" cy="34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00415A"/>
                </a:solidFill>
                <a:latin typeface="Merriweather"/>
                <a:ea typeface="Merriweather"/>
                <a:cs typeface="Merriweather"/>
                <a:sym typeface="Merriweather"/>
              </a:rPr>
              <a:t>A Robust Framework</a:t>
            </a:r>
            <a:endParaRPr/>
          </a:p>
        </p:txBody>
      </p:sp>
      <p:sp>
        <p:nvSpPr>
          <p:cNvPr id="316" name="Google Shape;316;p27"/>
          <p:cNvSpPr txBox="1"/>
          <p:nvPr/>
        </p:nvSpPr>
        <p:spPr>
          <a:xfrm>
            <a:off x="571500" y="2656879"/>
            <a:ext cx="5286375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CLIMADA provides a highly robust, open-source framework for holistic climate impact modelling.</a:t>
            </a:r>
            <a:endParaRPr/>
          </a:p>
        </p:txBody>
      </p:sp>
      <p:sp>
        <p:nvSpPr>
          <p:cNvPr id="317" name="Google Shape;317;p27"/>
          <p:cNvSpPr txBox="1"/>
          <p:nvPr/>
        </p:nvSpPr>
        <p:spPr>
          <a:xfrm>
            <a:off x="571500" y="3378696"/>
            <a:ext cx="5286375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The Hazard–Exposure–Impact approach allows for a granular, integrated risk analysis that accounts for all drivers of damage.</a:t>
            </a:r>
            <a:endParaRPr/>
          </a:p>
        </p:txBody>
      </p:sp>
      <p:sp>
        <p:nvSpPr>
          <p:cNvPr id="318" name="Google Shape;318;p27"/>
          <p:cNvSpPr txBox="1"/>
          <p:nvPr/>
        </p:nvSpPr>
        <p:spPr>
          <a:xfrm>
            <a:off x="571500" y="4100512"/>
            <a:ext cx="5286375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Our developed Python workflow enables fully automated impact calculations directly from raw climate datasets.</a:t>
            </a:r>
            <a:endParaRPr/>
          </a:p>
        </p:txBody>
      </p:sp>
      <p:sp>
        <p:nvSpPr>
          <p:cNvPr id="319" name="Google Shape;319;p27"/>
          <p:cNvSpPr txBox="1"/>
          <p:nvPr/>
        </p:nvSpPr>
        <p:spPr>
          <a:xfrm>
            <a:off x="571500" y="4822328"/>
            <a:ext cx="5286375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Ultimately, this approach delivers actionable insights to support strategic climate resilience planning.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EE"/>
        </a:solidFill>
        <a:effectLst/>
      </p:bgPr>
    </p:bg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4" name="Google Shape;324;p2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25" name="Google Shape;325;p28"/>
          <p:cNvSpPr/>
          <p:nvPr/>
        </p:nvSpPr>
        <p:spPr>
          <a:xfrm>
            <a:off x="571500" y="1394817"/>
            <a:ext cx="11049000" cy="784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28"/>
          <p:cNvSpPr/>
          <p:nvPr/>
        </p:nvSpPr>
        <p:spPr>
          <a:xfrm>
            <a:off x="571500" y="2179587"/>
            <a:ext cx="11049000" cy="784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28"/>
          <p:cNvSpPr/>
          <p:nvPr/>
        </p:nvSpPr>
        <p:spPr>
          <a:xfrm>
            <a:off x="571500" y="2964358"/>
            <a:ext cx="11049000" cy="982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28"/>
          <p:cNvSpPr/>
          <p:nvPr/>
        </p:nvSpPr>
        <p:spPr>
          <a:xfrm>
            <a:off x="571500" y="3947219"/>
            <a:ext cx="11049000" cy="784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28"/>
          <p:cNvSpPr/>
          <p:nvPr/>
        </p:nvSpPr>
        <p:spPr>
          <a:xfrm>
            <a:off x="571500" y="4731990"/>
            <a:ext cx="11049000" cy="784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28"/>
          <p:cNvSpPr/>
          <p:nvPr/>
        </p:nvSpPr>
        <p:spPr>
          <a:xfrm>
            <a:off x="571500" y="2170062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28"/>
          <p:cNvSpPr/>
          <p:nvPr/>
        </p:nvSpPr>
        <p:spPr>
          <a:xfrm>
            <a:off x="571500" y="2170062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/>
          <p:nvPr/>
        </p:nvSpPr>
        <p:spPr>
          <a:xfrm>
            <a:off x="571500" y="2954833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28"/>
          <p:cNvSpPr/>
          <p:nvPr/>
        </p:nvSpPr>
        <p:spPr>
          <a:xfrm>
            <a:off x="571500" y="2954833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28"/>
          <p:cNvSpPr/>
          <p:nvPr/>
        </p:nvSpPr>
        <p:spPr>
          <a:xfrm>
            <a:off x="571500" y="3937694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28"/>
          <p:cNvSpPr/>
          <p:nvPr/>
        </p:nvSpPr>
        <p:spPr>
          <a:xfrm>
            <a:off x="571500" y="3937694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28"/>
          <p:cNvSpPr/>
          <p:nvPr/>
        </p:nvSpPr>
        <p:spPr>
          <a:xfrm>
            <a:off x="571500" y="4722465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28"/>
          <p:cNvSpPr/>
          <p:nvPr/>
        </p:nvSpPr>
        <p:spPr>
          <a:xfrm>
            <a:off x="571500" y="4722465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28"/>
          <p:cNvSpPr/>
          <p:nvPr/>
        </p:nvSpPr>
        <p:spPr>
          <a:xfrm>
            <a:off x="571500" y="5507235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28"/>
          <p:cNvSpPr/>
          <p:nvPr/>
        </p:nvSpPr>
        <p:spPr>
          <a:xfrm>
            <a:off x="571500" y="5507235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40" name="Google Shape;340;p2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544240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41" name="Google Shape;341;p28"/>
          <p:cNvSpPr txBox="1"/>
          <p:nvPr/>
        </p:nvSpPr>
        <p:spPr>
          <a:xfrm>
            <a:off x="1666875" y="1537692"/>
            <a:ext cx="9953625" cy="198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https://www.adaptationcommunity.net/wp-content/uploads/2023/08/CR_SB_website_Overview_page_Conceptual_framework_figure_rev28Aug2023-3.png</a:t>
            </a:r>
            <a:endParaRPr/>
          </a:p>
        </p:txBody>
      </p:sp>
      <p:sp>
        <p:nvSpPr>
          <p:cNvPr id="342" name="Google Shape;342;p28"/>
          <p:cNvSpPr txBox="1"/>
          <p:nvPr/>
        </p:nvSpPr>
        <p:spPr>
          <a:xfrm>
            <a:off x="1666875" y="1783407"/>
            <a:ext cx="995362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DM Sans"/>
                <a:ea typeface="DM Sans"/>
                <a:cs typeface="DM Sans"/>
                <a:sym typeface="DM Sans"/>
              </a:rPr>
              <a:t>www.adaptationcommunity.net</a:t>
            </a:r>
            <a:endParaRPr/>
          </a:p>
        </p:txBody>
      </p:sp>
      <p:pic>
        <p:nvPicPr>
          <p:cNvPr id="343" name="Google Shape;343;p2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2329011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44" name="Google Shape;344;p28"/>
          <p:cNvSpPr txBox="1"/>
          <p:nvPr/>
        </p:nvSpPr>
        <p:spPr>
          <a:xfrm>
            <a:off x="1666875" y="2322462"/>
            <a:ext cx="9953625" cy="198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https://ethz.ch/en/campus/development/hoenggerberg/_jcr_content/par/fullwidthimage_26897405/image.imageformat.1286.333617114.jpg</a:t>
            </a:r>
            <a:endParaRPr/>
          </a:p>
        </p:txBody>
      </p:sp>
      <p:sp>
        <p:nvSpPr>
          <p:cNvPr id="345" name="Google Shape;345;p28"/>
          <p:cNvSpPr txBox="1"/>
          <p:nvPr/>
        </p:nvSpPr>
        <p:spPr>
          <a:xfrm>
            <a:off x="1666875" y="2568178"/>
            <a:ext cx="995362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DM Sans"/>
                <a:ea typeface="DM Sans"/>
                <a:cs typeface="DM Sans"/>
                <a:sym typeface="DM Sans"/>
              </a:rPr>
              <a:t>ethz.ch</a:t>
            </a:r>
            <a:endParaRPr/>
          </a:p>
        </p:txBody>
      </p:sp>
      <p:pic>
        <p:nvPicPr>
          <p:cNvPr id="346" name="Google Shape;346;p28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3212901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47" name="Google Shape;347;p28"/>
          <p:cNvSpPr txBox="1"/>
          <p:nvPr/>
        </p:nvSpPr>
        <p:spPr>
          <a:xfrm>
            <a:off x="1666875" y="3107233"/>
            <a:ext cx="9953625" cy="396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https://images-provider.frontiersin.org/api/ipx/w=1200&amp;f=png/https://www.frontiersin.org/files/Articles/1309629/feart-12-1309629-HTML/image_m/feart-12-1309629-g001.jpg</a:t>
            </a:r>
            <a:endParaRPr/>
          </a:p>
        </p:txBody>
      </p:sp>
      <p:sp>
        <p:nvSpPr>
          <p:cNvPr id="348" name="Google Shape;348;p28"/>
          <p:cNvSpPr txBox="1"/>
          <p:nvPr/>
        </p:nvSpPr>
        <p:spPr>
          <a:xfrm>
            <a:off x="1666875" y="3551039"/>
            <a:ext cx="995362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DM Sans"/>
                <a:ea typeface="DM Sans"/>
                <a:cs typeface="DM Sans"/>
                <a:sym typeface="DM Sans"/>
              </a:rPr>
              <a:t>www.frontiersin.org</a:t>
            </a:r>
            <a:endParaRPr/>
          </a:p>
        </p:txBody>
      </p:sp>
      <p:pic>
        <p:nvPicPr>
          <p:cNvPr id="349" name="Google Shape;349;p28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1500" y="4096642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50" name="Google Shape;350;p28"/>
          <p:cNvSpPr txBox="1"/>
          <p:nvPr/>
        </p:nvSpPr>
        <p:spPr>
          <a:xfrm>
            <a:off x="1666875" y="4090094"/>
            <a:ext cx="9953625" cy="198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https://www.kontur.io/wp-content/uploads/2022/08/kontur_population.png</a:t>
            </a:r>
            <a:endParaRPr/>
          </a:p>
        </p:txBody>
      </p:sp>
      <p:sp>
        <p:nvSpPr>
          <p:cNvPr id="351" name="Google Shape;351;p28"/>
          <p:cNvSpPr txBox="1"/>
          <p:nvPr/>
        </p:nvSpPr>
        <p:spPr>
          <a:xfrm>
            <a:off x="1666875" y="4335809"/>
            <a:ext cx="995362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DM Sans"/>
                <a:ea typeface="DM Sans"/>
                <a:cs typeface="DM Sans"/>
                <a:sym typeface="DM Sans"/>
              </a:rPr>
              <a:t>www.kontur.io</a:t>
            </a:r>
            <a:endParaRPr/>
          </a:p>
        </p:txBody>
      </p:sp>
      <p:pic>
        <p:nvPicPr>
          <p:cNvPr id="352" name="Google Shape;352;p28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71500" y="4881413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53" name="Google Shape;353;p28"/>
          <p:cNvSpPr txBox="1"/>
          <p:nvPr/>
        </p:nvSpPr>
        <p:spPr>
          <a:xfrm>
            <a:off x="1666875" y="4874865"/>
            <a:ext cx="9953625" cy="198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https://www.cdema.org/virtuallibrary/images/description/Flood_empirical.jpg</a:t>
            </a:r>
            <a:endParaRPr/>
          </a:p>
        </p:txBody>
      </p:sp>
      <p:sp>
        <p:nvSpPr>
          <p:cNvPr id="354" name="Google Shape;354;p28"/>
          <p:cNvSpPr txBox="1"/>
          <p:nvPr/>
        </p:nvSpPr>
        <p:spPr>
          <a:xfrm>
            <a:off x="1666875" y="5120580"/>
            <a:ext cx="995362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DM Sans"/>
                <a:ea typeface="DM Sans"/>
                <a:cs typeface="DM Sans"/>
                <a:sym typeface="DM Sans"/>
              </a:rPr>
              <a:t>www.cdema.org</a:t>
            </a:r>
            <a:endParaRPr/>
          </a:p>
        </p:txBody>
      </p:sp>
      <p:pic>
        <p:nvPicPr>
          <p:cNvPr id="355" name="Google Shape;355;p28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571500" y="5666184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56" name="Google Shape;356;p28"/>
          <p:cNvSpPr txBox="1"/>
          <p:nvPr/>
        </p:nvSpPr>
        <p:spPr>
          <a:xfrm>
            <a:off x="1666875" y="5659635"/>
            <a:ext cx="9953625" cy="198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https://skepticalscience.com/graphics/Vulnerable_Countries_500.jpg</a:t>
            </a:r>
            <a:endParaRPr/>
          </a:p>
        </p:txBody>
      </p:sp>
      <p:sp>
        <p:nvSpPr>
          <p:cNvPr id="357" name="Google Shape;357;p28"/>
          <p:cNvSpPr txBox="1"/>
          <p:nvPr/>
        </p:nvSpPr>
        <p:spPr>
          <a:xfrm>
            <a:off x="1666875" y="5905351"/>
            <a:ext cx="995362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DM Sans"/>
                <a:ea typeface="DM Sans"/>
                <a:cs typeface="DM Sans"/>
                <a:sym typeface="DM Sans"/>
              </a:rPr>
              <a:t>skepticalscience.com</a:t>
            </a:r>
            <a:endParaRPr/>
          </a:p>
        </p:txBody>
      </p:sp>
      <p:sp>
        <p:nvSpPr>
          <p:cNvPr id="358" name="Google Shape;358;p28"/>
          <p:cNvSpPr txBox="1"/>
          <p:nvPr/>
        </p:nvSpPr>
        <p:spPr>
          <a:xfrm>
            <a:off x="571500" y="566142"/>
            <a:ext cx="1160145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415A"/>
                </a:solidFill>
                <a:latin typeface="Merriweather"/>
                <a:ea typeface="Merriweather"/>
                <a:cs typeface="Merriweather"/>
                <a:sym typeface="Merriweather"/>
              </a:rPr>
              <a:t>Image Sources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5EE"/>
        </a:solidFill>
        <a:effectLst/>
      </p:bgPr>
    </p:bg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3" name="Google Shape;363;p2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64" name="Google Shape;364;p29"/>
          <p:cNvSpPr/>
          <p:nvPr/>
        </p:nvSpPr>
        <p:spPr>
          <a:xfrm>
            <a:off x="571500" y="1400175"/>
            <a:ext cx="11049000" cy="784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29"/>
          <p:cNvSpPr/>
          <p:nvPr/>
        </p:nvSpPr>
        <p:spPr>
          <a:xfrm>
            <a:off x="571500" y="2184945"/>
            <a:ext cx="11049000" cy="784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29"/>
          <p:cNvSpPr/>
          <p:nvPr/>
        </p:nvSpPr>
        <p:spPr>
          <a:xfrm>
            <a:off x="571500" y="2175420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9"/>
          <p:cNvSpPr/>
          <p:nvPr/>
        </p:nvSpPr>
        <p:spPr>
          <a:xfrm>
            <a:off x="571500" y="2175420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29"/>
          <p:cNvSpPr/>
          <p:nvPr/>
        </p:nvSpPr>
        <p:spPr>
          <a:xfrm>
            <a:off x="571500" y="2960191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29"/>
          <p:cNvSpPr/>
          <p:nvPr/>
        </p:nvSpPr>
        <p:spPr>
          <a:xfrm>
            <a:off x="571500" y="2960191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70" name="Google Shape;370;p2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549598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29"/>
          <p:cNvSpPr txBox="1"/>
          <p:nvPr/>
        </p:nvSpPr>
        <p:spPr>
          <a:xfrm>
            <a:off x="1666875" y="1543050"/>
            <a:ext cx="9953625" cy="198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https://assets.visme.co/templates/banners/thumbnails/i_Social-Media-Bar-Graph_full.jpg</a:t>
            </a:r>
            <a:endParaRPr/>
          </a:p>
        </p:txBody>
      </p:sp>
      <p:sp>
        <p:nvSpPr>
          <p:cNvPr id="372" name="Google Shape;372;p29"/>
          <p:cNvSpPr txBox="1"/>
          <p:nvPr/>
        </p:nvSpPr>
        <p:spPr>
          <a:xfrm>
            <a:off x="1666875" y="1788765"/>
            <a:ext cx="995362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DM Sans"/>
                <a:ea typeface="DM Sans"/>
                <a:cs typeface="DM Sans"/>
                <a:sym typeface="DM Sans"/>
              </a:rPr>
              <a:t>www.visme.co</a:t>
            </a:r>
            <a:endParaRPr/>
          </a:p>
        </p:txBody>
      </p:sp>
      <p:pic>
        <p:nvPicPr>
          <p:cNvPr id="373" name="Google Shape;373;p2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2334369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29"/>
          <p:cNvSpPr txBox="1"/>
          <p:nvPr/>
        </p:nvSpPr>
        <p:spPr>
          <a:xfrm>
            <a:off x="1666875" y="2327820"/>
            <a:ext cx="9953625" cy="198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http://www.espon.eu/sites/default/files/2024-05/illustration_aggregated-risk-europe-map.png</a:t>
            </a:r>
            <a:endParaRPr/>
          </a:p>
        </p:txBody>
      </p:sp>
      <p:sp>
        <p:nvSpPr>
          <p:cNvPr id="375" name="Google Shape;375;p29"/>
          <p:cNvSpPr txBox="1"/>
          <p:nvPr/>
        </p:nvSpPr>
        <p:spPr>
          <a:xfrm>
            <a:off x="1666875" y="2573535"/>
            <a:ext cx="995362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DM Sans"/>
                <a:ea typeface="DM Sans"/>
                <a:cs typeface="DM Sans"/>
                <a:sym typeface="DM Sans"/>
              </a:rPr>
              <a:t>www.espon.eu</a:t>
            </a:r>
            <a:endParaRPr/>
          </a:p>
        </p:txBody>
      </p:sp>
      <p:pic>
        <p:nvPicPr>
          <p:cNvPr id="376" name="Google Shape;376;p2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3218259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377" name="Google Shape;377;p29"/>
          <p:cNvSpPr txBox="1"/>
          <p:nvPr/>
        </p:nvSpPr>
        <p:spPr>
          <a:xfrm>
            <a:off x="1666875" y="3112591"/>
            <a:ext cx="9953625" cy="396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https://cop30.br/en/news-about-cop30/global-adaptation-efforts-advance-as-countries-move-from-planning-to-action-unfccc-report-shows/@@images/image-1280-aadb507844f180658e24b4dc740e9198.jpeg</a:t>
            </a:r>
            <a:endParaRPr/>
          </a:p>
        </p:txBody>
      </p:sp>
      <p:sp>
        <p:nvSpPr>
          <p:cNvPr id="378" name="Google Shape;378;p29"/>
          <p:cNvSpPr txBox="1"/>
          <p:nvPr/>
        </p:nvSpPr>
        <p:spPr>
          <a:xfrm>
            <a:off x="1666875" y="3556396"/>
            <a:ext cx="995362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334155"/>
                </a:solidFill>
                <a:latin typeface="DM Sans"/>
                <a:ea typeface="DM Sans"/>
                <a:cs typeface="DM Sans"/>
                <a:sym typeface="DM Sans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DM Sans"/>
                <a:ea typeface="DM Sans"/>
                <a:cs typeface="DM Sans"/>
                <a:sym typeface="DM Sans"/>
              </a:rPr>
              <a:t>cop30.br</a:t>
            </a:r>
            <a:endParaRPr/>
          </a:p>
        </p:txBody>
      </p:sp>
      <p:sp>
        <p:nvSpPr>
          <p:cNvPr id="379" name="Google Shape;379;p29"/>
          <p:cNvSpPr txBox="1"/>
          <p:nvPr/>
        </p:nvSpPr>
        <p:spPr>
          <a:xfrm>
            <a:off x="571500" y="571500"/>
            <a:ext cx="11601450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0415A"/>
                </a:solidFill>
                <a:latin typeface="Merriweather"/>
                <a:ea typeface="Merriweather"/>
                <a:cs typeface="Merriweather"/>
                <a:sym typeface="Merriweather"/>
              </a:rPr>
              <a:t>Image Sources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1334</Words>
  <Application>Microsoft Office PowerPoint</Application>
  <PresentationFormat>Panorámica</PresentationFormat>
  <Paragraphs>133</Paragraphs>
  <Slides>17</Slides>
  <Notes>17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3" baseType="lpstr">
      <vt:lpstr>DM Sans Medium</vt:lpstr>
      <vt:lpstr>Merriweather</vt:lpstr>
      <vt:lpstr>DM Sans</vt:lpstr>
      <vt:lpstr>Calibri</vt:lpstr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William Alfonso Leon Rueda</cp:lastModifiedBy>
  <cp:revision>5</cp:revision>
  <dcterms:modified xsi:type="dcterms:W3CDTF">2026-03-13T00:04:38Z</dcterms:modified>
</cp:coreProperties>
</file>